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7" r:id="rId3"/>
    <p:sldId id="268" r:id="rId4"/>
    <p:sldId id="270" r:id="rId5"/>
    <p:sldId id="273" r:id="rId6"/>
    <p:sldId id="274" r:id="rId7"/>
    <p:sldId id="275" r:id="rId8"/>
    <p:sldId id="276" r:id="rId9"/>
    <p:sldId id="269" r:id="rId10"/>
    <p:sldId id="271" r:id="rId11"/>
    <p:sldId id="272" r:id="rId12"/>
    <p:sldId id="277" r:id="rId13"/>
    <p:sldId id="278" r:id="rId14"/>
    <p:sldId id="27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169"/>
    <p:restoredTop sz="94694"/>
  </p:normalViewPr>
  <p:slideViewPr>
    <p:cSldViewPr snapToGrid="0">
      <p:cViewPr varScale="1">
        <p:scale>
          <a:sx n="121" d="100"/>
          <a:sy n="121" d="100"/>
        </p:scale>
        <p:origin x="52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434BB9-A000-A2C1-F74B-E79FA84CA3B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BB39BFB8-4434-8E00-6EBE-865107C056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4B860B4-906B-35AF-A802-768E7E333BED}"/>
              </a:ext>
            </a:extLst>
          </p:cNvPr>
          <p:cNvSpPr>
            <a:spLocks noGrp="1"/>
          </p:cNvSpPr>
          <p:nvPr>
            <p:ph type="dt" sz="half" idx="10"/>
          </p:nvPr>
        </p:nvSpPr>
        <p:spPr/>
        <p:txBody>
          <a:bodyPr/>
          <a:lstStyle/>
          <a:p>
            <a:fld id="{DD4FD953-4959-7B43-A1AC-A3D86343C92A}" type="datetimeFigureOut">
              <a:rPr lang="en-US" smtClean="0"/>
              <a:t>4/25/26</a:t>
            </a:fld>
            <a:endParaRPr lang="en-US"/>
          </a:p>
        </p:txBody>
      </p:sp>
      <p:sp>
        <p:nvSpPr>
          <p:cNvPr id="5" name="Footer Placeholder 4">
            <a:extLst>
              <a:ext uri="{FF2B5EF4-FFF2-40B4-BE49-F238E27FC236}">
                <a16:creationId xmlns:a16="http://schemas.microsoft.com/office/drawing/2014/main" id="{0FE7509A-0A26-DE56-01CD-C048E7FF6D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135213-7351-29F4-4D50-3B5A6E12FD2A}"/>
              </a:ext>
            </a:extLst>
          </p:cNvPr>
          <p:cNvSpPr>
            <a:spLocks noGrp="1"/>
          </p:cNvSpPr>
          <p:nvPr>
            <p:ph type="sldNum" sz="quarter" idx="12"/>
          </p:nvPr>
        </p:nvSpPr>
        <p:spPr/>
        <p:txBody>
          <a:bodyPr/>
          <a:lstStyle/>
          <a:p>
            <a:fld id="{B190C89D-59DA-E848-81D8-4C142C40C47E}" type="slidenum">
              <a:rPr lang="en-US" smtClean="0"/>
              <a:t>‹#›</a:t>
            </a:fld>
            <a:endParaRPr lang="en-US"/>
          </a:p>
        </p:txBody>
      </p:sp>
    </p:spTree>
    <p:extLst>
      <p:ext uri="{BB962C8B-B14F-4D97-AF65-F5344CB8AC3E}">
        <p14:creationId xmlns:p14="http://schemas.microsoft.com/office/powerpoint/2010/main" val="27061493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C08DBA-B08F-AC4B-9BEC-4876AC774EBD}"/>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0305B892-D8B2-50F3-D747-04044138D3E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AD088CF-A747-0AED-E4DD-21C308178A9D}"/>
              </a:ext>
            </a:extLst>
          </p:cNvPr>
          <p:cNvSpPr>
            <a:spLocks noGrp="1"/>
          </p:cNvSpPr>
          <p:nvPr>
            <p:ph type="dt" sz="half" idx="10"/>
          </p:nvPr>
        </p:nvSpPr>
        <p:spPr/>
        <p:txBody>
          <a:bodyPr/>
          <a:lstStyle/>
          <a:p>
            <a:fld id="{DD4FD953-4959-7B43-A1AC-A3D86343C92A}" type="datetimeFigureOut">
              <a:rPr lang="en-US" smtClean="0"/>
              <a:t>4/25/26</a:t>
            </a:fld>
            <a:endParaRPr lang="en-US"/>
          </a:p>
        </p:txBody>
      </p:sp>
      <p:sp>
        <p:nvSpPr>
          <p:cNvPr id="5" name="Footer Placeholder 4">
            <a:extLst>
              <a:ext uri="{FF2B5EF4-FFF2-40B4-BE49-F238E27FC236}">
                <a16:creationId xmlns:a16="http://schemas.microsoft.com/office/drawing/2014/main" id="{F394AAA9-9359-C429-A505-DA835B7CD4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D0FFD4-0FAE-EDE0-BBAA-25E7F76C3BB9}"/>
              </a:ext>
            </a:extLst>
          </p:cNvPr>
          <p:cNvSpPr>
            <a:spLocks noGrp="1"/>
          </p:cNvSpPr>
          <p:nvPr>
            <p:ph type="sldNum" sz="quarter" idx="12"/>
          </p:nvPr>
        </p:nvSpPr>
        <p:spPr/>
        <p:txBody>
          <a:bodyPr/>
          <a:lstStyle/>
          <a:p>
            <a:fld id="{B190C89D-59DA-E848-81D8-4C142C40C47E}" type="slidenum">
              <a:rPr lang="en-US" smtClean="0"/>
              <a:t>‹#›</a:t>
            </a:fld>
            <a:endParaRPr lang="en-US"/>
          </a:p>
        </p:txBody>
      </p:sp>
    </p:spTree>
    <p:extLst>
      <p:ext uri="{BB962C8B-B14F-4D97-AF65-F5344CB8AC3E}">
        <p14:creationId xmlns:p14="http://schemas.microsoft.com/office/powerpoint/2010/main" val="8178647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7CCE0-B186-0328-5AB7-9A9C8D9C9178}"/>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ECF2E095-B222-6EAB-80E9-57E84E59F3B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AD1A513A-ED5B-0B43-B370-4977372B0B56}"/>
              </a:ext>
            </a:extLst>
          </p:cNvPr>
          <p:cNvSpPr>
            <a:spLocks noGrp="1"/>
          </p:cNvSpPr>
          <p:nvPr>
            <p:ph type="dt" sz="half" idx="10"/>
          </p:nvPr>
        </p:nvSpPr>
        <p:spPr/>
        <p:txBody>
          <a:bodyPr/>
          <a:lstStyle/>
          <a:p>
            <a:fld id="{DD4FD953-4959-7B43-A1AC-A3D86343C92A}" type="datetimeFigureOut">
              <a:rPr lang="en-US" smtClean="0"/>
              <a:t>4/25/26</a:t>
            </a:fld>
            <a:endParaRPr lang="en-US"/>
          </a:p>
        </p:txBody>
      </p:sp>
      <p:sp>
        <p:nvSpPr>
          <p:cNvPr id="5" name="Footer Placeholder 4">
            <a:extLst>
              <a:ext uri="{FF2B5EF4-FFF2-40B4-BE49-F238E27FC236}">
                <a16:creationId xmlns:a16="http://schemas.microsoft.com/office/drawing/2014/main" id="{3A2E1174-8606-84E1-2A3F-195AF7473A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313784-29A8-1F21-9D4A-0101EAA46EF0}"/>
              </a:ext>
            </a:extLst>
          </p:cNvPr>
          <p:cNvSpPr>
            <a:spLocks noGrp="1"/>
          </p:cNvSpPr>
          <p:nvPr>
            <p:ph type="sldNum" sz="quarter" idx="12"/>
          </p:nvPr>
        </p:nvSpPr>
        <p:spPr/>
        <p:txBody>
          <a:bodyPr/>
          <a:lstStyle/>
          <a:p>
            <a:fld id="{B190C89D-59DA-E848-81D8-4C142C40C47E}" type="slidenum">
              <a:rPr lang="en-US" smtClean="0"/>
              <a:t>‹#›</a:t>
            </a:fld>
            <a:endParaRPr lang="en-US"/>
          </a:p>
        </p:txBody>
      </p:sp>
    </p:spTree>
    <p:extLst>
      <p:ext uri="{BB962C8B-B14F-4D97-AF65-F5344CB8AC3E}">
        <p14:creationId xmlns:p14="http://schemas.microsoft.com/office/powerpoint/2010/main" val="995917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A21B4C-FC84-3CDB-6551-F26FD60E8820}"/>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BF91970-A464-833F-D986-6B6F1C4FB958}"/>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5F6355D8-4890-08F8-DCAF-B1DEFA2F449D}"/>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A6350AFC-A8CC-9A51-58A0-CDFEE4E9C3B6}"/>
              </a:ext>
            </a:extLst>
          </p:cNvPr>
          <p:cNvSpPr>
            <a:spLocks noGrp="1"/>
          </p:cNvSpPr>
          <p:nvPr>
            <p:ph type="dt" sz="half" idx="10"/>
          </p:nvPr>
        </p:nvSpPr>
        <p:spPr/>
        <p:txBody>
          <a:bodyPr/>
          <a:lstStyle/>
          <a:p>
            <a:fld id="{DD4FD953-4959-7B43-A1AC-A3D86343C92A}" type="datetimeFigureOut">
              <a:rPr lang="en-US" smtClean="0"/>
              <a:t>4/25/26</a:t>
            </a:fld>
            <a:endParaRPr lang="en-US"/>
          </a:p>
        </p:txBody>
      </p:sp>
      <p:sp>
        <p:nvSpPr>
          <p:cNvPr id="6" name="Footer Placeholder 5">
            <a:extLst>
              <a:ext uri="{FF2B5EF4-FFF2-40B4-BE49-F238E27FC236}">
                <a16:creationId xmlns:a16="http://schemas.microsoft.com/office/drawing/2014/main" id="{09552346-7B2F-D346-E3FD-4FF5BAF426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A4407B-3AC6-0106-80F7-925E6CB614EA}"/>
              </a:ext>
            </a:extLst>
          </p:cNvPr>
          <p:cNvSpPr>
            <a:spLocks noGrp="1"/>
          </p:cNvSpPr>
          <p:nvPr>
            <p:ph type="sldNum" sz="quarter" idx="12"/>
          </p:nvPr>
        </p:nvSpPr>
        <p:spPr/>
        <p:txBody>
          <a:bodyPr/>
          <a:lstStyle/>
          <a:p>
            <a:fld id="{B190C89D-59DA-E848-81D8-4C142C40C47E}" type="slidenum">
              <a:rPr lang="en-US" smtClean="0"/>
              <a:t>‹#›</a:t>
            </a:fld>
            <a:endParaRPr lang="en-US"/>
          </a:p>
        </p:txBody>
      </p:sp>
    </p:spTree>
    <p:extLst>
      <p:ext uri="{BB962C8B-B14F-4D97-AF65-F5344CB8AC3E}">
        <p14:creationId xmlns:p14="http://schemas.microsoft.com/office/powerpoint/2010/main" val="22868509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92ED5-CA8C-8C6E-924A-70280FE73782}"/>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86C25D95-850B-99A9-0DD4-34F6DC20204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30949733-090F-16F6-64D6-185841B887A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C0D8E1CE-C52C-1ACE-996D-80194DABD45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9ABBAD7D-CACF-EEA5-28DC-A7FD566BDED7}"/>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F80CD9FB-C99E-56E4-88E8-C7ED9765050B}"/>
              </a:ext>
            </a:extLst>
          </p:cNvPr>
          <p:cNvSpPr>
            <a:spLocks noGrp="1"/>
          </p:cNvSpPr>
          <p:nvPr>
            <p:ph type="dt" sz="half" idx="10"/>
          </p:nvPr>
        </p:nvSpPr>
        <p:spPr/>
        <p:txBody>
          <a:bodyPr/>
          <a:lstStyle/>
          <a:p>
            <a:fld id="{DD4FD953-4959-7B43-A1AC-A3D86343C92A}" type="datetimeFigureOut">
              <a:rPr lang="en-US" smtClean="0"/>
              <a:t>4/25/26</a:t>
            </a:fld>
            <a:endParaRPr lang="en-US"/>
          </a:p>
        </p:txBody>
      </p:sp>
      <p:sp>
        <p:nvSpPr>
          <p:cNvPr id="8" name="Footer Placeholder 7">
            <a:extLst>
              <a:ext uri="{FF2B5EF4-FFF2-40B4-BE49-F238E27FC236}">
                <a16:creationId xmlns:a16="http://schemas.microsoft.com/office/drawing/2014/main" id="{42CC9E26-A34B-6210-6E51-E764280AE6E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7D6C3FA-C804-00B1-9616-E5EC646155DA}"/>
              </a:ext>
            </a:extLst>
          </p:cNvPr>
          <p:cNvSpPr>
            <a:spLocks noGrp="1"/>
          </p:cNvSpPr>
          <p:nvPr>
            <p:ph type="sldNum" sz="quarter" idx="12"/>
          </p:nvPr>
        </p:nvSpPr>
        <p:spPr/>
        <p:txBody>
          <a:bodyPr/>
          <a:lstStyle/>
          <a:p>
            <a:fld id="{B190C89D-59DA-E848-81D8-4C142C40C47E}" type="slidenum">
              <a:rPr lang="en-US" smtClean="0"/>
              <a:t>‹#›</a:t>
            </a:fld>
            <a:endParaRPr lang="en-US"/>
          </a:p>
        </p:txBody>
      </p:sp>
    </p:spTree>
    <p:extLst>
      <p:ext uri="{BB962C8B-B14F-4D97-AF65-F5344CB8AC3E}">
        <p14:creationId xmlns:p14="http://schemas.microsoft.com/office/powerpoint/2010/main" val="9729532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99BFC4-8173-82B5-ECEE-FBB017EFD20F}"/>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21F86426-9670-4BAA-354C-C894DCC443A4}"/>
              </a:ext>
            </a:extLst>
          </p:cNvPr>
          <p:cNvSpPr>
            <a:spLocks noGrp="1"/>
          </p:cNvSpPr>
          <p:nvPr>
            <p:ph type="dt" sz="half" idx="10"/>
          </p:nvPr>
        </p:nvSpPr>
        <p:spPr/>
        <p:txBody>
          <a:bodyPr/>
          <a:lstStyle/>
          <a:p>
            <a:fld id="{DD4FD953-4959-7B43-A1AC-A3D86343C92A}" type="datetimeFigureOut">
              <a:rPr lang="en-US" smtClean="0"/>
              <a:t>4/25/26</a:t>
            </a:fld>
            <a:endParaRPr lang="en-US"/>
          </a:p>
        </p:txBody>
      </p:sp>
      <p:sp>
        <p:nvSpPr>
          <p:cNvPr id="4" name="Footer Placeholder 3">
            <a:extLst>
              <a:ext uri="{FF2B5EF4-FFF2-40B4-BE49-F238E27FC236}">
                <a16:creationId xmlns:a16="http://schemas.microsoft.com/office/drawing/2014/main" id="{FFAB1E5B-A9EA-62E1-14FE-A706050227D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2997D9-FFDD-3CF3-6090-023DCF472BD1}"/>
              </a:ext>
            </a:extLst>
          </p:cNvPr>
          <p:cNvSpPr>
            <a:spLocks noGrp="1"/>
          </p:cNvSpPr>
          <p:nvPr>
            <p:ph type="sldNum" sz="quarter" idx="12"/>
          </p:nvPr>
        </p:nvSpPr>
        <p:spPr/>
        <p:txBody>
          <a:bodyPr/>
          <a:lstStyle/>
          <a:p>
            <a:fld id="{B190C89D-59DA-E848-81D8-4C142C40C47E}" type="slidenum">
              <a:rPr lang="en-US" smtClean="0"/>
              <a:t>‹#›</a:t>
            </a:fld>
            <a:endParaRPr lang="en-US"/>
          </a:p>
        </p:txBody>
      </p:sp>
    </p:spTree>
    <p:extLst>
      <p:ext uri="{BB962C8B-B14F-4D97-AF65-F5344CB8AC3E}">
        <p14:creationId xmlns:p14="http://schemas.microsoft.com/office/powerpoint/2010/main" val="9069459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1ED7048-2298-E3BE-3501-851D7B81FEDA}"/>
              </a:ext>
            </a:extLst>
          </p:cNvPr>
          <p:cNvSpPr>
            <a:spLocks noGrp="1"/>
          </p:cNvSpPr>
          <p:nvPr>
            <p:ph type="dt" sz="half" idx="10"/>
          </p:nvPr>
        </p:nvSpPr>
        <p:spPr/>
        <p:txBody>
          <a:bodyPr/>
          <a:lstStyle/>
          <a:p>
            <a:fld id="{DD4FD953-4959-7B43-A1AC-A3D86343C92A}" type="datetimeFigureOut">
              <a:rPr lang="en-US" smtClean="0"/>
              <a:t>4/25/26</a:t>
            </a:fld>
            <a:endParaRPr lang="en-US"/>
          </a:p>
        </p:txBody>
      </p:sp>
      <p:sp>
        <p:nvSpPr>
          <p:cNvPr id="3" name="Footer Placeholder 2">
            <a:extLst>
              <a:ext uri="{FF2B5EF4-FFF2-40B4-BE49-F238E27FC236}">
                <a16:creationId xmlns:a16="http://schemas.microsoft.com/office/drawing/2014/main" id="{A4BA07A3-36B6-30BD-8CC2-00744E45106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2D8D3C2-E18D-2C90-416D-5C8AFD1C771E}"/>
              </a:ext>
            </a:extLst>
          </p:cNvPr>
          <p:cNvSpPr>
            <a:spLocks noGrp="1"/>
          </p:cNvSpPr>
          <p:nvPr>
            <p:ph type="sldNum" sz="quarter" idx="12"/>
          </p:nvPr>
        </p:nvSpPr>
        <p:spPr/>
        <p:txBody>
          <a:bodyPr/>
          <a:lstStyle/>
          <a:p>
            <a:fld id="{B190C89D-59DA-E848-81D8-4C142C40C47E}" type="slidenum">
              <a:rPr lang="en-US" smtClean="0"/>
              <a:t>‹#›</a:t>
            </a:fld>
            <a:endParaRPr lang="en-US"/>
          </a:p>
        </p:txBody>
      </p:sp>
    </p:spTree>
    <p:extLst>
      <p:ext uri="{BB962C8B-B14F-4D97-AF65-F5344CB8AC3E}">
        <p14:creationId xmlns:p14="http://schemas.microsoft.com/office/powerpoint/2010/main" val="22154964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D3FAB-D4EF-F0DA-50E0-47DDCC7AF80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3EDB330B-0785-0196-38BD-6CEB4EF76DB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5C399234-137D-FA95-3CFD-B697092237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BE8314A-167A-46DA-59C5-7F5C2D2F50AB}"/>
              </a:ext>
            </a:extLst>
          </p:cNvPr>
          <p:cNvSpPr>
            <a:spLocks noGrp="1"/>
          </p:cNvSpPr>
          <p:nvPr>
            <p:ph type="dt" sz="half" idx="10"/>
          </p:nvPr>
        </p:nvSpPr>
        <p:spPr/>
        <p:txBody>
          <a:bodyPr/>
          <a:lstStyle/>
          <a:p>
            <a:fld id="{DD4FD953-4959-7B43-A1AC-A3D86343C92A}" type="datetimeFigureOut">
              <a:rPr lang="en-US" smtClean="0"/>
              <a:t>4/25/26</a:t>
            </a:fld>
            <a:endParaRPr lang="en-US"/>
          </a:p>
        </p:txBody>
      </p:sp>
      <p:sp>
        <p:nvSpPr>
          <p:cNvPr id="6" name="Footer Placeholder 5">
            <a:extLst>
              <a:ext uri="{FF2B5EF4-FFF2-40B4-BE49-F238E27FC236}">
                <a16:creationId xmlns:a16="http://schemas.microsoft.com/office/drawing/2014/main" id="{14150A79-8B9B-B63C-9658-70830401DD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326062-5647-8317-7A00-AA2586E573AC}"/>
              </a:ext>
            </a:extLst>
          </p:cNvPr>
          <p:cNvSpPr>
            <a:spLocks noGrp="1"/>
          </p:cNvSpPr>
          <p:nvPr>
            <p:ph type="sldNum" sz="quarter" idx="12"/>
          </p:nvPr>
        </p:nvSpPr>
        <p:spPr/>
        <p:txBody>
          <a:bodyPr/>
          <a:lstStyle/>
          <a:p>
            <a:fld id="{B190C89D-59DA-E848-81D8-4C142C40C47E}" type="slidenum">
              <a:rPr lang="en-US" smtClean="0"/>
              <a:t>‹#›</a:t>
            </a:fld>
            <a:endParaRPr lang="en-US"/>
          </a:p>
        </p:txBody>
      </p:sp>
    </p:spTree>
    <p:extLst>
      <p:ext uri="{BB962C8B-B14F-4D97-AF65-F5344CB8AC3E}">
        <p14:creationId xmlns:p14="http://schemas.microsoft.com/office/powerpoint/2010/main" val="38382634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E20C3-D431-2812-03D0-2CD0E41448A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86281321-5323-BEC9-E6F0-DA7DB61DE99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8A7EA8D-5748-78B4-F9BA-6481E19C27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EB236D1-16BB-4C84-4B71-6A5379D6427D}"/>
              </a:ext>
            </a:extLst>
          </p:cNvPr>
          <p:cNvSpPr>
            <a:spLocks noGrp="1"/>
          </p:cNvSpPr>
          <p:nvPr>
            <p:ph type="dt" sz="half" idx="10"/>
          </p:nvPr>
        </p:nvSpPr>
        <p:spPr/>
        <p:txBody>
          <a:bodyPr/>
          <a:lstStyle/>
          <a:p>
            <a:fld id="{DD4FD953-4959-7B43-A1AC-A3D86343C92A}" type="datetimeFigureOut">
              <a:rPr lang="en-US" smtClean="0"/>
              <a:t>4/25/26</a:t>
            </a:fld>
            <a:endParaRPr lang="en-US"/>
          </a:p>
        </p:txBody>
      </p:sp>
      <p:sp>
        <p:nvSpPr>
          <p:cNvPr id="6" name="Footer Placeholder 5">
            <a:extLst>
              <a:ext uri="{FF2B5EF4-FFF2-40B4-BE49-F238E27FC236}">
                <a16:creationId xmlns:a16="http://schemas.microsoft.com/office/drawing/2014/main" id="{C9BA3109-0534-DA86-1539-F223F0CCEE4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0D69A1B-40C2-3393-F927-A6E309BA8E04}"/>
              </a:ext>
            </a:extLst>
          </p:cNvPr>
          <p:cNvSpPr>
            <a:spLocks noGrp="1"/>
          </p:cNvSpPr>
          <p:nvPr>
            <p:ph type="sldNum" sz="quarter" idx="12"/>
          </p:nvPr>
        </p:nvSpPr>
        <p:spPr/>
        <p:txBody>
          <a:bodyPr/>
          <a:lstStyle/>
          <a:p>
            <a:fld id="{B190C89D-59DA-E848-81D8-4C142C40C47E}" type="slidenum">
              <a:rPr lang="en-US" smtClean="0"/>
              <a:t>‹#›</a:t>
            </a:fld>
            <a:endParaRPr lang="en-US"/>
          </a:p>
        </p:txBody>
      </p:sp>
    </p:spTree>
    <p:extLst>
      <p:ext uri="{BB962C8B-B14F-4D97-AF65-F5344CB8AC3E}">
        <p14:creationId xmlns:p14="http://schemas.microsoft.com/office/powerpoint/2010/main" val="28335704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14DC28-2D04-AAB7-69C7-1E21D13FF2F1}"/>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6D5EA83B-41D3-D8B7-F6B1-ECEB20EDEF1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7727FDE1-6F19-C5B1-481B-BF3541763AB7}"/>
              </a:ext>
            </a:extLst>
          </p:cNvPr>
          <p:cNvSpPr>
            <a:spLocks noGrp="1"/>
          </p:cNvSpPr>
          <p:nvPr>
            <p:ph type="dt" sz="half" idx="10"/>
          </p:nvPr>
        </p:nvSpPr>
        <p:spPr/>
        <p:txBody>
          <a:bodyPr/>
          <a:lstStyle/>
          <a:p>
            <a:fld id="{DD4FD953-4959-7B43-A1AC-A3D86343C92A}" type="datetimeFigureOut">
              <a:rPr lang="en-US" smtClean="0"/>
              <a:t>4/25/26</a:t>
            </a:fld>
            <a:endParaRPr lang="en-US"/>
          </a:p>
        </p:txBody>
      </p:sp>
      <p:sp>
        <p:nvSpPr>
          <p:cNvPr id="5" name="Footer Placeholder 4">
            <a:extLst>
              <a:ext uri="{FF2B5EF4-FFF2-40B4-BE49-F238E27FC236}">
                <a16:creationId xmlns:a16="http://schemas.microsoft.com/office/drawing/2014/main" id="{150B951E-E40C-2AA2-0453-454E68E0291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09CDA8-AD1F-B244-44D9-98EA11DF4E36}"/>
              </a:ext>
            </a:extLst>
          </p:cNvPr>
          <p:cNvSpPr>
            <a:spLocks noGrp="1"/>
          </p:cNvSpPr>
          <p:nvPr>
            <p:ph type="sldNum" sz="quarter" idx="12"/>
          </p:nvPr>
        </p:nvSpPr>
        <p:spPr/>
        <p:txBody>
          <a:bodyPr/>
          <a:lstStyle/>
          <a:p>
            <a:fld id="{B190C89D-59DA-E848-81D8-4C142C40C47E}" type="slidenum">
              <a:rPr lang="en-US" smtClean="0"/>
              <a:t>‹#›</a:t>
            </a:fld>
            <a:endParaRPr lang="en-US"/>
          </a:p>
        </p:txBody>
      </p:sp>
    </p:spTree>
    <p:extLst>
      <p:ext uri="{BB962C8B-B14F-4D97-AF65-F5344CB8AC3E}">
        <p14:creationId xmlns:p14="http://schemas.microsoft.com/office/powerpoint/2010/main" val="1545111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5FBA037-42A1-9DC8-DFA1-4519F934795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D843167-DA09-9424-3AF4-42008268EBFD}"/>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6ABDCA2-F98E-81B9-8B5D-0DA5B75F8681}"/>
              </a:ext>
            </a:extLst>
          </p:cNvPr>
          <p:cNvSpPr>
            <a:spLocks noGrp="1"/>
          </p:cNvSpPr>
          <p:nvPr>
            <p:ph type="dt" sz="half" idx="10"/>
          </p:nvPr>
        </p:nvSpPr>
        <p:spPr/>
        <p:txBody>
          <a:bodyPr/>
          <a:lstStyle/>
          <a:p>
            <a:fld id="{DD4FD953-4959-7B43-A1AC-A3D86343C92A}" type="datetimeFigureOut">
              <a:rPr lang="en-US" smtClean="0"/>
              <a:t>4/25/26</a:t>
            </a:fld>
            <a:endParaRPr lang="en-US"/>
          </a:p>
        </p:txBody>
      </p:sp>
      <p:sp>
        <p:nvSpPr>
          <p:cNvPr id="5" name="Footer Placeholder 4">
            <a:extLst>
              <a:ext uri="{FF2B5EF4-FFF2-40B4-BE49-F238E27FC236}">
                <a16:creationId xmlns:a16="http://schemas.microsoft.com/office/drawing/2014/main" id="{4B45C989-6C0D-40D2-C0D2-46D206B8F2F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BF9B8F-D19E-6DA6-FD9C-566003F757B6}"/>
              </a:ext>
            </a:extLst>
          </p:cNvPr>
          <p:cNvSpPr>
            <a:spLocks noGrp="1"/>
          </p:cNvSpPr>
          <p:nvPr>
            <p:ph type="sldNum" sz="quarter" idx="12"/>
          </p:nvPr>
        </p:nvSpPr>
        <p:spPr/>
        <p:txBody>
          <a:bodyPr/>
          <a:lstStyle/>
          <a:p>
            <a:fld id="{B190C89D-59DA-E848-81D8-4C142C40C47E}" type="slidenum">
              <a:rPr lang="en-US" smtClean="0"/>
              <a:t>‹#›</a:t>
            </a:fld>
            <a:endParaRPr lang="en-US"/>
          </a:p>
        </p:txBody>
      </p:sp>
    </p:spTree>
    <p:extLst>
      <p:ext uri="{BB962C8B-B14F-4D97-AF65-F5344CB8AC3E}">
        <p14:creationId xmlns:p14="http://schemas.microsoft.com/office/powerpoint/2010/main" val="1391957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0308896-4BA3-B3C7-3E37-6DF757238C6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324E5E54-493D-EFA8-1883-A59CBB68A36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D0340F6-7A1B-3FEF-6620-1E6319BC97F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D4FD953-4959-7B43-A1AC-A3D86343C92A}" type="datetimeFigureOut">
              <a:rPr lang="en-US" smtClean="0"/>
              <a:t>4/25/26</a:t>
            </a:fld>
            <a:endParaRPr lang="en-US"/>
          </a:p>
        </p:txBody>
      </p:sp>
      <p:sp>
        <p:nvSpPr>
          <p:cNvPr id="5" name="Footer Placeholder 4">
            <a:extLst>
              <a:ext uri="{FF2B5EF4-FFF2-40B4-BE49-F238E27FC236}">
                <a16:creationId xmlns:a16="http://schemas.microsoft.com/office/drawing/2014/main" id="{92294B6D-C736-57D7-6E64-BC470E0659F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A2996A8-1C76-42CB-4B7D-481B11AF4B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190C89D-59DA-E848-81D8-4C142C40C47E}" type="slidenum">
              <a:rPr lang="en-US" smtClean="0"/>
              <a:t>‹#›</a:t>
            </a:fld>
            <a:endParaRPr lang="en-US"/>
          </a:p>
        </p:txBody>
      </p:sp>
    </p:spTree>
    <p:extLst>
      <p:ext uri="{BB962C8B-B14F-4D97-AF65-F5344CB8AC3E}">
        <p14:creationId xmlns:p14="http://schemas.microsoft.com/office/powerpoint/2010/main" val="36819482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youtube.com/watch?v=jLEp1XI_L6Q&amp;t=23s"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671-CCF9-740D-4F35-80BB17DB2808}"/>
              </a:ext>
            </a:extLst>
          </p:cNvPr>
          <p:cNvSpPr>
            <a:spLocks noGrp="1"/>
          </p:cNvSpPr>
          <p:nvPr>
            <p:ph type="ctrTitle"/>
          </p:nvPr>
        </p:nvSpPr>
        <p:spPr/>
        <p:txBody>
          <a:bodyPr/>
          <a:lstStyle/>
          <a:p>
            <a:r>
              <a:rPr lang="en-US" dirty="0"/>
              <a:t>Database Replication</a:t>
            </a:r>
          </a:p>
        </p:txBody>
      </p:sp>
      <p:sp>
        <p:nvSpPr>
          <p:cNvPr id="4" name="TextBox 3">
            <a:extLst>
              <a:ext uri="{FF2B5EF4-FFF2-40B4-BE49-F238E27FC236}">
                <a16:creationId xmlns:a16="http://schemas.microsoft.com/office/drawing/2014/main" id="{27F6CB4D-CEBC-3E08-59A2-7ABA9CE99325}"/>
              </a:ext>
            </a:extLst>
          </p:cNvPr>
          <p:cNvSpPr txBox="1"/>
          <p:nvPr/>
        </p:nvSpPr>
        <p:spPr>
          <a:xfrm>
            <a:off x="2965143" y="5854262"/>
            <a:ext cx="6885283" cy="369332"/>
          </a:xfrm>
          <a:prstGeom prst="rect">
            <a:avLst/>
          </a:prstGeom>
          <a:noFill/>
        </p:spPr>
        <p:txBody>
          <a:bodyPr wrap="none" rtlCol="0">
            <a:spAutoFit/>
          </a:bodyPr>
          <a:lstStyle/>
          <a:p>
            <a:r>
              <a:rPr lang="en-US" dirty="0"/>
              <a:t>Reference: </a:t>
            </a:r>
            <a:r>
              <a:rPr lang="en-US" dirty="0">
                <a:hlinkClick r:id="rId2"/>
              </a:rPr>
              <a:t>https://www.youtube.com/watch?v=jLEp1XI_L6Q&amp;t=23s</a:t>
            </a:r>
            <a:r>
              <a:rPr lang="en-US" dirty="0"/>
              <a:t> </a:t>
            </a:r>
          </a:p>
        </p:txBody>
      </p:sp>
    </p:spTree>
    <p:extLst>
      <p:ext uri="{BB962C8B-B14F-4D97-AF65-F5344CB8AC3E}">
        <p14:creationId xmlns:p14="http://schemas.microsoft.com/office/powerpoint/2010/main" val="30020099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EBD332D-9E2A-4927-CED2-ADFDEB15BF02}"/>
              </a:ext>
            </a:extLst>
          </p:cNvPr>
          <p:cNvSpPr txBox="1"/>
          <p:nvPr/>
        </p:nvSpPr>
        <p:spPr>
          <a:xfrm>
            <a:off x="865434" y="567558"/>
            <a:ext cx="11105850" cy="2862322"/>
          </a:xfrm>
          <a:prstGeom prst="rect">
            <a:avLst/>
          </a:prstGeom>
          <a:noFill/>
        </p:spPr>
        <p:txBody>
          <a:bodyPr wrap="square" rtlCol="0">
            <a:spAutoFit/>
          </a:bodyPr>
          <a:lstStyle/>
          <a:p>
            <a:r>
              <a:rPr lang="en-US" b="1" dirty="0"/>
              <a:t>Database Replication </a:t>
            </a:r>
            <a:r>
              <a:rPr lang="en-US" dirty="0"/>
              <a:t>is used to guarantee data </a:t>
            </a:r>
            <a:r>
              <a:rPr lang="en-US" b="1" dirty="0"/>
              <a:t>AVAIABILITY =&gt; ensure the system remain responsive in case of high load or DB failures.</a:t>
            </a:r>
            <a:endParaRPr lang="en-US" dirty="0"/>
          </a:p>
          <a:p>
            <a:endParaRPr lang="en-US" dirty="0"/>
          </a:p>
          <a:p>
            <a:r>
              <a:rPr lang="en-US" dirty="0"/>
              <a:t>DB replication consists in creating multiple copies (called “REPLICAS”) of the same DB running on different servers (and machines).</a:t>
            </a:r>
          </a:p>
          <a:p>
            <a:endParaRPr lang="en-US" dirty="0"/>
          </a:p>
          <a:p>
            <a:r>
              <a:rPr lang="en-US" dirty="0"/>
              <a:t>Pros:</a:t>
            </a:r>
          </a:p>
          <a:p>
            <a:pPr marL="285750" indent="-285750">
              <a:buFont typeface="Arial" panose="020B0604020202020204" pitchFamily="34" charset="0"/>
              <a:buChar char="•"/>
            </a:pPr>
            <a:r>
              <a:rPr lang="en-US" dirty="0"/>
              <a:t>It guarantee </a:t>
            </a:r>
            <a:r>
              <a:rPr lang="en-US" dirty="0">
                <a:solidFill>
                  <a:srgbClr val="FF0000"/>
                </a:solidFill>
              </a:rPr>
              <a:t>High Availability</a:t>
            </a:r>
            <a:r>
              <a:rPr lang="en-US" dirty="0"/>
              <a:t> because if one replica goes down, the system can switch to another replica providing uninterrupted services to clients.</a:t>
            </a:r>
          </a:p>
          <a:p>
            <a:pPr marL="285750" indent="-285750">
              <a:buFont typeface="Arial" panose="020B0604020202020204" pitchFamily="34" charset="0"/>
              <a:buChar char="•"/>
            </a:pPr>
            <a:r>
              <a:rPr lang="en-US" dirty="0"/>
              <a:t>It </a:t>
            </a:r>
            <a:r>
              <a:rPr lang="en-US" dirty="0">
                <a:solidFill>
                  <a:srgbClr val="FF0000"/>
                </a:solidFill>
              </a:rPr>
              <a:t>scales read capacity</a:t>
            </a:r>
            <a:r>
              <a:rPr lang="en-US" dirty="0"/>
              <a:t> because now we have multiple databases where you can read data from</a:t>
            </a:r>
          </a:p>
        </p:txBody>
      </p:sp>
      <p:pic>
        <p:nvPicPr>
          <p:cNvPr id="3" name="Picture 2" descr="A diagram of a computer server&#10;&#10;AI-generated content may be incorrect.">
            <a:extLst>
              <a:ext uri="{FF2B5EF4-FFF2-40B4-BE49-F238E27FC236}">
                <a16:creationId xmlns:a16="http://schemas.microsoft.com/office/drawing/2014/main" id="{84FA4E8F-4F07-59AB-A763-A7BD8B9B0388}"/>
              </a:ext>
            </a:extLst>
          </p:cNvPr>
          <p:cNvPicPr>
            <a:picLocks noChangeAspect="1"/>
          </p:cNvPicPr>
          <p:nvPr/>
        </p:nvPicPr>
        <p:blipFill>
          <a:blip r:embed="rId2"/>
          <a:stretch>
            <a:fillRect/>
          </a:stretch>
        </p:blipFill>
        <p:spPr>
          <a:xfrm>
            <a:off x="2975681" y="3580293"/>
            <a:ext cx="5401581" cy="2862321"/>
          </a:xfrm>
          <a:prstGeom prst="rect">
            <a:avLst/>
          </a:prstGeom>
        </p:spPr>
      </p:pic>
    </p:spTree>
    <p:extLst>
      <p:ext uri="{BB962C8B-B14F-4D97-AF65-F5344CB8AC3E}">
        <p14:creationId xmlns:p14="http://schemas.microsoft.com/office/powerpoint/2010/main" val="4389185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93D8D51-BE2A-9500-C173-F7C20DF0D3BA}"/>
              </a:ext>
            </a:extLst>
          </p:cNvPr>
          <p:cNvSpPr txBox="1"/>
          <p:nvPr/>
        </p:nvSpPr>
        <p:spPr>
          <a:xfrm>
            <a:off x="865434" y="567558"/>
            <a:ext cx="11105850" cy="369332"/>
          </a:xfrm>
          <a:prstGeom prst="rect">
            <a:avLst/>
          </a:prstGeom>
          <a:noFill/>
        </p:spPr>
        <p:txBody>
          <a:bodyPr wrap="square" rtlCol="0">
            <a:spAutoFit/>
          </a:bodyPr>
          <a:lstStyle/>
          <a:p>
            <a:r>
              <a:rPr lang="en-US" b="1" dirty="0"/>
              <a:t>Leader-Follower Replication</a:t>
            </a:r>
            <a:endParaRPr lang="en-US" dirty="0"/>
          </a:p>
        </p:txBody>
      </p:sp>
      <p:pic>
        <p:nvPicPr>
          <p:cNvPr id="6" name="Picture 5" descr="A diagram of a diagram of a leader&#10;&#10;AI-generated content may be incorrect.">
            <a:extLst>
              <a:ext uri="{FF2B5EF4-FFF2-40B4-BE49-F238E27FC236}">
                <a16:creationId xmlns:a16="http://schemas.microsoft.com/office/drawing/2014/main" id="{BE69DA41-5FB8-6056-7538-625EBE309CBE}"/>
              </a:ext>
            </a:extLst>
          </p:cNvPr>
          <p:cNvPicPr>
            <a:picLocks noChangeAspect="1"/>
          </p:cNvPicPr>
          <p:nvPr/>
        </p:nvPicPr>
        <p:blipFill>
          <a:blip r:embed="rId2"/>
          <a:stretch>
            <a:fillRect/>
          </a:stretch>
        </p:blipFill>
        <p:spPr>
          <a:xfrm>
            <a:off x="2301624" y="1275237"/>
            <a:ext cx="7772400" cy="2806245"/>
          </a:xfrm>
          <a:prstGeom prst="rect">
            <a:avLst/>
          </a:prstGeom>
        </p:spPr>
      </p:pic>
      <p:sp>
        <p:nvSpPr>
          <p:cNvPr id="7" name="TextBox 6">
            <a:extLst>
              <a:ext uri="{FF2B5EF4-FFF2-40B4-BE49-F238E27FC236}">
                <a16:creationId xmlns:a16="http://schemas.microsoft.com/office/drawing/2014/main" id="{34F242C3-F7BB-3E82-6489-22FA2459532F}"/>
              </a:ext>
            </a:extLst>
          </p:cNvPr>
          <p:cNvSpPr txBox="1"/>
          <p:nvPr/>
        </p:nvSpPr>
        <p:spPr>
          <a:xfrm>
            <a:off x="725214" y="4666593"/>
            <a:ext cx="11105850" cy="830997"/>
          </a:xfrm>
          <a:prstGeom prst="rect">
            <a:avLst/>
          </a:prstGeom>
          <a:noFill/>
        </p:spPr>
        <p:txBody>
          <a:bodyPr wrap="square" rtlCol="0">
            <a:spAutoFit/>
          </a:bodyPr>
          <a:lstStyle/>
          <a:p>
            <a:r>
              <a:rPr lang="en-US" sz="1600" b="1" dirty="0"/>
              <a:t>Write</a:t>
            </a:r>
            <a:r>
              <a:rPr lang="en-US" sz="1600" dirty="0"/>
              <a:t> operations are done only towards the Leader =&gt; it’s then the Leader responsible to propagate the changes to the followers</a:t>
            </a:r>
          </a:p>
          <a:p>
            <a:r>
              <a:rPr lang="en-US" sz="1600" b="1" dirty="0"/>
              <a:t>Read</a:t>
            </a:r>
            <a:r>
              <a:rPr lang="en-US" sz="1600" dirty="0"/>
              <a:t> operations are spread across both Leader and Followers</a:t>
            </a:r>
          </a:p>
        </p:txBody>
      </p:sp>
    </p:spTree>
    <p:extLst>
      <p:ext uri="{BB962C8B-B14F-4D97-AF65-F5344CB8AC3E}">
        <p14:creationId xmlns:p14="http://schemas.microsoft.com/office/powerpoint/2010/main" val="23068494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55F38-05EA-BD33-B15D-B9A1471E45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D863147-F3E3-4B4E-6A5C-AC7EEE7D6E2F}"/>
              </a:ext>
            </a:extLst>
          </p:cNvPr>
          <p:cNvSpPr txBox="1"/>
          <p:nvPr/>
        </p:nvSpPr>
        <p:spPr>
          <a:xfrm>
            <a:off x="865434" y="567558"/>
            <a:ext cx="11105850" cy="369332"/>
          </a:xfrm>
          <a:prstGeom prst="rect">
            <a:avLst/>
          </a:prstGeom>
          <a:noFill/>
        </p:spPr>
        <p:txBody>
          <a:bodyPr wrap="square" rtlCol="0">
            <a:spAutoFit/>
          </a:bodyPr>
          <a:lstStyle/>
          <a:p>
            <a:r>
              <a:rPr lang="en-US" b="1" dirty="0"/>
              <a:t>Leader-Leader Replication</a:t>
            </a:r>
            <a:endParaRPr lang="en-US" dirty="0"/>
          </a:p>
        </p:txBody>
      </p:sp>
      <p:sp>
        <p:nvSpPr>
          <p:cNvPr id="7" name="TextBox 6">
            <a:extLst>
              <a:ext uri="{FF2B5EF4-FFF2-40B4-BE49-F238E27FC236}">
                <a16:creationId xmlns:a16="http://schemas.microsoft.com/office/drawing/2014/main" id="{C61A5711-DC9A-E705-FBEC-683295BEDF67}"/>
              </a:ext>
            </a:extLst>
          </p:cNvPr>
          <p:cNvSpPr txBox="1"/>
          <p:nvPr/>
        </p:nvSpPr>
        <p:spPr>
          <a:xfrm>
            <a:off x="704193" y="3773214"/>
            <a:ext cx="5568330" cy="2554545"/>
          </a:xfrm>
          <a:prstGeom prst="rect">
            <a:avLst/>
          </a:prstGeom>
          <a:noFill/>
        </p:spPr>
        <p:txBody>
          <a:bodyPr wrap="square" rtlCol="0">
            <a:spAutoFit/>
          </a:bodyPr>
          <a:lstStyle/>
          <a:p>
            <a:r>
              <a:rPr lang="en-US" sz="1600" b="1" dirty="0"/>
              <a:t>Write</a:t>
            </a:r>
            <a:r>
              <a:rPr lang="en-US" sz="1600" dirty="0"/>
              <a:t> and </a:t>
            </a:r>
            <a:r>
              <a:rPr lang="en-US" sz="1600" b="1" dirty="0"/>
              <a:t>Read</a:t>
            </a:r>
            <a:r>
              <a:rPr lang="en-US" sz="1600" dirty="0"/>
              <a:t> operations are can be done towards any of the replicas.</a:t>
            </a:r>
          </a:p>
          <a:p>
            <a:endParaRPr lang="en-US" sz="1600" dirty="0"/>
          </a:p>
          <a:p>
            <a:r>
              <a:rPr lang="en-US" sz="1600" dirty="0"/>
              <a:t>A Problem specifically for this approach (which is not in the master-slave approach):</a:t>
            </a:r>
          </a:p>
          <a:p>
            <a:r>
              <a:rPr lang="en-US" sz="1600" dirty="0"/>
              <a:t>There might be </a:t>
            </a:r>
            <a:r>
              <a:rPr lang="en-US" sz="1600" b="1" dirty="0">
                <a:solidFill>
                  <a:srgbClr val="FF0000"/>
                </a:solidFill>
              </a:rPr>
              <a:t>conflicts</a:t>
            </a:r>
            <a:r>
              <a:rPr lang="en-US" sz="1600" dirty="0"/>
              <a:t> when writing </a:t>
            </a:r>
            <a:r>
              <a:rPr lang="en-IE" sz="1600" b="1" u="sng" dirty="0"/>
              <a:t>two</a:t>
            </a:r>
            <a:r>
              <a:rPr lang="en-IE" sz="1600" u="sng" dirty="0"/>
              <a:t> clients </a:t>
            </a:r>
            <a:r>
              <a:rPr lang="en-IE" sz="1600" b="1" u="sng" dirty="0"/>
              <a:t>write to the same record</a:t>
            </a:r>
            <a:r>
              <a:rPr lang="en-IE" sz="1600" u="sng" dirty="0"/>
              <a:t> </a:t>
            </a:r>
            <a:r>
              <a:rPr lang="en-IE" sz="1600" b="1" u="sng" dirty="0"/>
              <a:t>on different nodes </a:t>
            </a:r>
            <a:r>
              <a:rPr lang="en-IE" sz="1600" u="sng" dirty="0"/>
              <a:t>simultaneously</a:t>
            </a:r>
            <a:r>
              <a:rPr lang="en-US" sz="1600" dirty="0"/>
              <a:t> (for example a </a:t>
            </a:r>
            <a:r>
              <a:rPr lang="en-US" sz="1600" b="1" dirty="0"/>
              <a:t>user</a:t>
            </a:r>
            <a:r>
              <a:rPr lang="en-US" sz="1600" dirty="0"/>
              <a:t> update a record in DB1, while another </a:t>
            </a:r>
            <a:r>
              <a:rPr lang="en-US" sz="1600" b="1" dirty="0"/>
              <a:t>user</a:t>
            </a:r>
            <a:r>
              <a:rPr lang="en-US" sz="1600" dirty="0"/>
              <a:t> update the same record in DB2) =&gt; we need to handle conflict resolution mechanisms =&gt; There are several options ==</a:t>
            </a:r>
            <a:r>
              <a:rPr lang="en-US" sz="1600" dirty="0">
                <a:sym typeface="Wingdings" pitchFamily="2" charset="2"/>
              </a:rPr>
              <a:t>&gt;</a:t>
            </a:r>
            <a:endParaRPr lang="en-US" sz="1600" dirty="0"/>
          </a:p>
        </p:txBody>
      </p:sp>
      <p:pic>
        <p:nvPicPr>
          <p:cNvPr id="3" name="Picture 2" descr="A diagram of a diagram of a leader&#10;&#10;AI-generated content may be incorrect.">
            <a:extLst>
              <a:ext uri="{FF2B5EF4-FFF2-40B4-BE49-F238E27FC236}">
                <a16:creationId xmlns:a16="http://schemas.microsoft.com/office/drawing/2014/main" id="{8795B232-D151-AA1F-76B4-0333A40A8FC9}"/>
              </a:ext>
            </a:extLst>
          </p:cNvPr>
          <p:cNvPicPr>
            <a:picLocks noChangeAspect="1"/>
          </p:cNvPicPr>
          <p:nvPr/>
        </p:nvPicPr>
        <p:blipFill>
          <a:blip r:embed="rId2"/>
          <a:stretch>
            <a:fillRect/>
          </a:stretch>
        </p:blipFill>
        <p:spPr>
          <a:xfrm>
            <a:off x="611351" y="1038300"/>
            <a:ext cx="5754013" cy="2201024"/>
          </a:xfrm>
          <a:prstGeom prst="rect">
            <a:avLst/>
          </a:prstGeom>
        </p:spPr>
      </p:pic>
      <p:pic>
        <p:nvPicPr>
          <p:cNvPr id="8" name="Picture 7">
            <a:extLst>
              <a:ext uri="{FF2B5EF4-FFF2-40B4-BE49-F238E27FC236}">
                <a16:creationId xmlns:a16="http://schemas.microsoft.com/office/drawing/2014/main" id="{B6FEE471-D3A7-DFD6-9008-440E6E27B6F0}"/>
              </a:ext>
            </a:extLst>
          </p:cNvPr>
          <p:cNvPicPr>
            <a:picLocks noChangeAspect="1"/>
          </p:cNvPicPr>
          <p:nvPr/>
        </p:nvPicPr>
        <p:blipFill>
          <a:blip r:embed="rId3"/>
          <a:stretch>
            <a:fillRect/>
          </a:stretch>
        </p:blipFill>
        <p:spPr>
          <a:xfrm>
            <a:off x="6453354" y="3340734"/>
            <a:ext cx="5568330" cy="3173284"/>
          </a:xfrm>
          <a:prstGeom prst="rect">
            <a:avLst/>
          </a:prstGeom>
        </p:spPr>
      </p:pic>
      <p:sp>
        <p:nvSpPr>
          <p:cNvPr id="5" name="TextBox 4">
            <a:extLst>
              <a:ext uri="{FF2B5EF4-FFF2-40B4-BE49-F238E27FC236}">
                <a16:creationId xmlns:a16="http://schemas.microsoft.com/office/drawing/2014/main" id="{1A332177-38B3-A7C8-8F99-CF89511EBCC9}"/>
              </a:ext>
            </a:extLst>
          </p:cNvPr>
          <p:cNvSpPr txBox="1"/>
          <p:nvPr/>
        </p:nvSpPr>
        <p:spPr>
          <a:xfrm>
            <a:off x="7029266" y="343982"/>
            <a:ext cx="4942018" cy="2862322"/>
          </a:xfrm>
          <a:prstGeom prst="rect">
            <a:avLst/>
          </a:prstGeom>
          <a:noFill/>
        </p:spPr>
        <p:txBody>
          <a:bodyPr wrap="square" rtlCol="0">
            <a:spAutoFit/>
          </a:bodyPr>
          <a:lstStyle/>
          <a:p>
            <a:r>
              <a:rPr lang="en-IE" b="1" dirty="0"/>
              <a:t>NB: Conflicts </a:t>
            </a:r>
            <a:r>
              <a:rPr lang="en-IE" b="1" u="sng" dirty="0"/>
              <a:t>on Replication </a:t>
            </a:r>
            <a:r>
              <a:rPr lang="en-IE" b="1" dirty="0"/>
              <a:t>and “Conflicts” on </a:t>
            </a:r>
            <a:r>
              <a:rPr lang="en-IE" b="1" u="sng" dirty="0"/>
              <a:t>clients writing the same row </a:t>
            </a:r>
            <a:r>
              <a:rPr lang="en-IE" b="1" dirty="0"/>
              <a:t>when using a </a:t>
            </a:r>
            <a:r>
              <a:rPr lang="en-IE" b="1" u="sng" dirty="0">
                <a:solidFill>
                  <a:srgbClr val="FF0000"/>
                </a:solidFill>
              </a:rPr>
              <a:t>Single-master</a:t>
            </a:r>
            <a:r>
              <a:rPr lang="en-IE" b="1" u="sng" dirty="0"/>
              <a:t> with </a:t>
            </a:r>
            <a:r>
              <a:rPr lang="en-IE" b="1" u="sng" dirty="0">
                <a:solidFill>
                  <a:srgbClr val="FF0000"/>
                </a:solidFill>
              </a:rPr>
              <a:t>optimistic locking,</a:t>
            </a:r>
            <a:r>
              <a:rPr lang="en-IE" b="1" dirty="0">
                <a:solidFill>
                  <a:srgbClr val="FF0000"/>
                </a:solidFill>
              </a:rPr>
              <a:t> </a:t>
            </a:r>
            <a:r>
              <a:rPr lang="en-IE" b="1" dirty="0"/>
              <a:t>are two DIFFERENT things </a:t>
            </a:r>
            <a:r>
              <a:rPr lang="en-IE" b="1" dirty="0">
                <a:solidFill>
                  <a:srgbClr val="FF0000"/>
                </a:solidFill>
              </a:rPr>
              <a:t>=&gt;</a:t>
            </a:r>
            <a:r>
              <a:rPr lang="en-IE" b="1" dirty="0"/>
              <a:t> You have to handle </a:t>
            </a:r>
            <a:r>
              <a:rPr lang="en-IE" b="1" u="sng" dirty="0">
                <a:solidFill>
                  <a:srgbClr val="FF0000"/>
                </a:solidFill>
              </a:rPr>
              <a:t>application-level conflicts</a:t>
            </a:r>
            <a:r>
              <a:rPr lang="en-IE" dirty="0"/>
              <a:t> =&gt; Even with one primary, </a:t>
            </a:r>
            <a:r>
              <a:rPr lang="en-IE" u="sng" dirty="0"/>
              <a:t>multiple app instances </a:t>
            </a:r>
            <a:r>
              <a:rPr lang="en-IE" dirty="0"/>
              <a:t>can read-then-write the same row concurrently. </a:t>
            </a:r>
            <a:r>
              <a:rPr lang="en-IE" dirty="0">
                <a:solidFill>
                  <a:srgbClr val="FF0000"/>
                </a:solidFill>
              </a:rPr>
              <a:t>This isn't a replication conflict but a </a:t>
            </a:r>
            <a:r>
              <a:rPr lang="en-IE" b="1" u="sng" dirty="0">
                <a:solidFill>
                  <a:srgbClr val="FF0000"/>
                </a:solidFill>
              </a:rPr>
              <a:t>concurrency</a:t>
            </a:r>
            <a:r>
              <a:rPr lang="en-IE" dirty="0">
                <a:solidFill>
                  <a:srgbClr val="FF0000"/>
                </a:solidFill>
              </a:rPr>
              <a:t> conflict </a:t>
            </a:r>
            <a:r>
              <a:rPr lang="en-IE" dirty="0"/>
              <a:t>— handled with </a:t>
            </a:r>
            <a:r>
              <a:rPr lang="en-IE" b="1" dirty="0"/>
              <a:t>versioning</a:t>
            </a:r>
            <a:r>
              <a:rPr lang="en-IE" dirty="0"/>
              <a:t> or </a:t>
            </a:r>
            <a:r>
              <a:rPr lang="en-IE" b="1" dirty="0"/>
              <a:t>SELECT FOR UPDATE</a:t>
            </a:r>
            <a:r>
              <a:rPr lang="en-IE" dirty="0"/>
              <a:t>.</a:t>
            </a:r>
            <a:endParaRPr lang="en-US" dirty="0"/>
          </a:p>
        </p:txBody>
      </p:sp>
    </p:spTree>
    <p:extLst>
      <p:ext uri="{BB962C8B-B14F-4D97-AF65-F5344CB8AC3E}">
        <p14:creationId xmlns:p14="http://schemas.microsoft.com/office/powerpoint/2010/main" val="1849230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88D57-2FF0-77C3-97A6-A44E6C0FE32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E35FD0-68FD-3538-D74F-DDFABDD88164}"/>
              </a:ext>
            </a:extLst>
          </p:cNvPr>
          <p:cNvSpPr txBox="1"/>
          <p:nvPr/>
        </p:nvSpPr>
        <p:spPr>
          <a:xfrm>
            <a:off x="543075" y="304800"/>
            <a:ext cx="11105850" cy="369332"/>
          </a:xfrm>
          <a:prstGeom prst="rect">
            <a:avLst/>
          </a:prstGeom>
          <a:noFill/>
        </p:spPr>
        <p:txBody>
          <a:bodyPr wrap="square" rtlCol="0">
            <a:spAutoFit/>
          </a:bodyPr>
          <a:lstStyle/>
          <a:p>
            <a:r>
              <a:rPr lang="en-US" b="1" dirty="0"/>
              <a:t>Conflict Resolution Strategies (node Master vs node Master) during Replication</a:t>
            </a:r>
            <a:endParaRPr lang="en-US" dirty="0"/>
          </a:p>
        </p:txBody>
      </p:sp>
      <p:sp>
        <p:nvSpPr>
          <p:cNvPr id="5" name="TextBox 4">
            <a:extLst>
              <a:ext uri="{FF2B5EF4-FFF2-40B4-BE49-F238E27FC236}">
                <a16:creationId xmlns:a16="http://schemas.microsoft.com/office/drawing/2014/main" id="{F8C8AF67-4D75-6D90-83D8-65365A8F3259}"/>
              </a:ext>
            </a:extLst>
          </p:cNvPr>
          <p:cNvSpPr txBox="1"/>
          <p:nvPr/>
        </p:nvSpPr>
        <p:spPr>
          <a:xfrm>
            <a:off x="420415" y="882868"/>
            <a:ext cx="11519338" cy="1477328"/>
          </a:xfrm>
          <a:prstGeom prst="rect">
            <a:avLst/>
          </a:prstGeom>
          <a:noFill/>
        </p:spPr>
        <p:txBody>
          <a:bodyPr wrap="square" rtlCol="0">
            <a:spAutoFit/>
          </a:bodyPr>
          <a:lstStyle/>
          <a:p>
            <a:r>
              <a:rPr lang="en-IE" b="1" dirty="0"/>
              <a:t>1. Last Write Wins (LWW)</a:t>
            </a:r>
            <a:r>
              <a:rPr lang="en-IE" dirty="0"/>
              <a:t> The write with the latest timestamp survives. Simple to implement, but clocks across nodes are never perfectly in sync (clock skew), so the "latest" timestamp can be wrong. Cassandra uses this by default.</a:t>
            </a:r>
          </a:p>
          <a:p>
            <a:r>
              <a:rPr lang="en-IE" b="1" dirty="0"/>
              <a:t>Risk: silently discards writes</a:t>
            </a:r>
            <a:r>
              <a:rPr lang="en-IE" dirty="0"/>
              <a:t>. Good for low-stakes data (</a:t>
            </a:r>
            <a:r>
              <a:rPr lang="en-IE" u="sng" dirty="0"/>
              <a:t>cache, metrics</a:t>
            </a:r>
            <a:r>
              <a:rPr lang="en-IE" dirty="0"/>
              <a:t>), </a:t>
            </a:r>
            <a:r>
              <a:rPr lang="en-IE" u="sng" dirty="0"/>
              <a:t>bad for financial data</a:t>
            </a:r>
            <a:r>
              <a:rPr lang="en-IE" dirty="0"/>
              <a:t>.</a:t>
            </a:r>
          </a:p>
          <a:p>
            <a:endParaRPr lang="en-US" dirty="0"/>
          </a:p>
        </p:txBody>
      </p:sp>
      <p:pic>
        <p:nvPicPr>
          <p:cNvPr id="9" name="Picture 8">
            <a:extLst>
              <a:ext uri="{FF2B5EF4-FFF2-40B4-BE49-F238E27FC236}">
                <a16:creationId xmlns:a16="http://schemas.microsoft.com/office/drawing/2014/main" id="{D1BF0033-196A-6965-E72E-556C0F506003}"/>
              </a:ext>
            </a:extLst>
          </p:cNvPr>
          <p:cNvPicPr>
            <a:picLocks noChangeAspect="1"/>
          </p:cNvPicPr>
          <p:nvPr/>
        </p:nvPicPr>
        <p:blipFill>
          <a:blip r:embed="rId2"/>
          <a:stretch>
            <a:fillRect/>
          </a:stretch>
        </p:blipFill>
        <p:spPr>
          <a:xfrm>
            <a:off x="1976845" y="2281366"/>
            <a:ext cx="7772400" cy="4131756"/>
          </a:xfrm>
          <a:prstGeom prst="rect">
            <a:avLst/>
          </a:prstGeom>
        </p:spPr>
      </p:pic>
    </p:spTree>
    <p:extLst>
      <p:ext uri="{BB962C8B-B14F-4D97-AF65-F5344CB8AC3E}">
        <p14:creationId xmlns:p14="http://schemas.microsoft.com/office/powerpoint/2010/main" val="14010702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988C27-A42F-6CEB-1535-FB84DE3232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438DA32-D3E5-198F-55D0-26DC73D7816E}"/>
              </a:ext>
            </a:extLst>
          </p:cNvPr>
          <p:cNvSpPr txBox="1"/>
          <p:nvPr/>
        </p:nvSpPr>
        <p:spPr>
          <a:xfrm>
            <a:off x="543075" y="304800"/>
            <a:ext cx="11105850" cy="369332"/>
          </a:xfrm>
          <a:prstGeom prst="rect">
            <a:avLst/>
          </a:prstGeom>
          <a:noFill/>
        </p:spPr>
        <p:txBody>
          <a:bodyPr wrap="square" rtlCol="0">
            <a:spAutoFit/>
          </a:bodyPr>
          <a:lstStyle/>
          <a:p>
            <a:r>
              <a:rPr lang="en-US" b="1" dirty="0"/>
              <a:t>Conflict Resolution Strategies (node Master vs node Master) during Replication</a:t>
            </a:r>
            <a:endParaRPr lang="en-US" dirty="0"/>
          </a:p>
        </p:txBody>
      </p:sp>
      <p:sp>
        <p:nvSpPr>
          <p:cNvPr id="5" name="TextBox 4">
            <a:extLst>
              <a:ext uri="{FF2B5EF4-FFF2-40B4-BE49-F238E27FC236}">
                <a16:creationId xmlns:a16="http://schemas.microsoft.com/office/drawing/2014/main" id="{F05D1A15-198E-E280-E1C3-BED2A79836EE}"/>
              </a:ext>
            </a:extLst>
          </p:cNvPr>
          <p:cNvSpPr txBox="1"/>
          <p:nvPr/>
        </p:nvSpPr>
        <p:spPr>
          <a:xfrm>
            <a:off x="420415" y="882868"/>
            <a:ext cx="11519338" cy="646331"/>
          </a:xfrm>
          <a:prstGeom prst="rect">
            <a:avLst/>
          </a:prstGeom>
          <a:noFill/>
        </p:spPr>
        <p:txBody>
          <a:bodyPr wrap="square" rtlCol="0">
            <a:spAutoFit/>
          </a:bodyPr>
          <a:lstStyle/>
          <a:p>
            <a:r>
              <a:rPr lang="en-IE" b="1" dirty="0"/>
              <a:t>2. First Write Wins</a:t>
            </a:r>
            <a:r>
              <a:rPr lang="en-IE" dirty="0"/>
              <a:t> The first write to reach </a:t>
            </a:r>
            <a:r>
              <a:rPr lang="en-IE" dirty="0">
                <a:solidFill>
                  <a:srgbClr val="FF0000"/>
                </a:solidFill>
              </a:rPr>
              <a:t>consensus</a:t>
            </a:r>
            <a:r>
              <a:rPr lang="en-IE" dirty="0"/>
              <a:t> wins, subsequent conflicting writes are </a:t>
            </a:r>
            <a:r>
              <a:rPr lang="en-IE" dirty="0">
                <a:solidFill>
                  <a:srgbClr val="FF0000"/>
                </a:solidFill>
              </a:rPr>
              <a:t>rejected</a:t>
            </a:r>
            <a:r>
              <a:rPr lang="en-IE" dirty="0"/>
              <a:t>. Used in some </a:t>
            </a:r>
            <a:r>
              <a:rPr lang="en-IE" dirty="0">
                <a:solidFill>
                  <a:srgbClr val="FF0000"/>
                </a:solidFill>
              </a:rPr>
              <a:t>strongly consistent systems</a:t>
            </a:r>
            <a:r>
              <a:rPr lang="en-IE" dirty="0"/>
              <a:t>.</a:t>
            </a:r>
            <a:endParaRPr lang="en-US" dirty="0"/>
          </a:p>
        </p:txBody>
      </p:sp>
      <p:pic>
        <p:nvPicPr>
          <p:cNvPr id="3" name="Picture 2">
            <a:extLst>
              <a:ext uri="{FF2B5EF4-FFF2-40B4-BE49-F238E27FC236}">
                <a16:creationId xmlns:a16="http://schemas.microsoft.com/office/drawing/2014/main" id="{763DFD64-9DE4-3E27-C46A-D936DE05C59E}"/>
              </a:ext>
            </a:extLst>
          </p:cNvPr>
          <p:cNvPicPr>
            <a:picLocks noChangeAspect="1"/>
          </p:cNvPicPr>
          <p:nvPr/>
        </p:nvPicPr>
        <p:blipFill>
          <a:blip r:embed="rId2"/>
          <a:stretch>
            <a:fillRect/>
          </a:stretch>
        </p:blipFill>
        <p:spPr>
          <a:xfrm>
            <a:off x="1983941" y="2094689"/>
            <a:ext cx="7772400" cy="3309468"/>
          </a:xfrm>
          <a:prstGeom prst="rect">
            <a:avLst/>
          </a:prstGeom>
        </p:spPr>
      </p:pic>
    </p:spTree>
    <p:extLst>
      <p:ext uri="{BB962C8B-B14F-4D97-AF65-F5344CB8AC3E}">
        <p14:creationId xmlns:p14="http://schemas.microsoft.com/office/powerpoint/2010/main" val="120113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7287F-8375-530A-CF09-F1BBC7E0640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A40A93-C5A9-D819-70EA-3086DA996DC9}"/>
              </a:ext>
            </a:extLst>
          </p:cNvPr>
          <p:cNvSpPr txBox="1"/>
          <p:nvPr/>
        </p:nvSpPr>
        <p:spPr>
          <a:xfrm>
            <a:off x="543075" y="304800"/>
            <a:ext cx="11105850" cy="369332"/>
          </a:xfrm>
          <a:prstGeom prst="rect">
            <a:avLst/>
          </a:prstGeom>
          <a:noFill/>
        </p:spPr>
        <p:txBody>
          <a:bodyPr wrap="square" rtlCol="0">
            <a:spAutoFit/>
          </a:bodyPr>
          <a:lstStyle/>
          <a:p>
            <a:r>
              <a:rPr lang="en-US" b="1" dirty="0"/>
              <a:t>Conflict Resolution Strategies (node Master vs node Master) during Replication</a:t>
            </a:r>
            <a:endParaRPr lang="en-US" dirty="0"/>
          </a:p>
        </p:txBody>
      </p:sp>
      <p:sp>
        <p:nvSpPr>
          <p:cNvPr id="5" name="TextBox 4">
            <a:extLst>
              <a:ext uri="{FF2B5EF4-FFF2-40B4-BE49-F238E27FC236}">
                <a16:creationId xmlns:a16="http://schemas.microsoft.com/office/drawing/2014/main" id="{204E7D25-1B48-C901-F6BD-09F9F4717448}"/>
              </a:ext>
            </a:extLst>
          </p:cNvPr>
          <p:cNvSpPr txBox="1"/>
          <p:nvPr/>
        </p:nvSpPr>
        <p:spPr>
          <a:xfrm>
            <a:off x="420415" y="882868"/>
            <a:ext cx="11519338" cy="1200329"/>
          </a:xfrm>
          <a:prstGeom prst="rect">
            <a:avLst/>
          </a:prstGeom>
          <a:noFill/>
        </p:spPr>
        <p:txBody>
          <a:bodyPr wrap="square" rtlCol="0">
            <a:spAutoFit/>
          </a:bodyPr>
          <a:lstStyle/>
          <a:p>
            <a:r>
              <a:rPr lang="en-IE" b="1" dirty="0"/>
              <a:t>3. Merge / CRDT (Conflict-free Replicated Data Types)</a:t>
            </a:r>
            <a:r>
              <a:rPr lang="en-IE" dirty="0"/>
              <a:t> Data structures mathematically designed so that any two versions can always be merged without conflict. Common examples: </a:t>
            </a:r>
            <a:r>
              <a:rPr lang="en-IE" u="sng" dirty="0"/>
              <a:t>counters</a:t>
            </a:r>
            <a:r>
              <a:rPr lang="en-IE" dirty="0"/>
              <a:t>, </a:t>
            </a:r>
            <a:r>
              <a:rPr lang="en-IE" u="sng" dirty="0"/>
              <a:t>sets with add-only semantics</a:t>
            </a:r>
            <a:r>
              <a:rPr lang="en-IE" dirty="0"/>
              <a:t>. Used in Redis (some data types), Riak, and eventually-consistent systems. </a:t>
            </a:r>
            <a:r>
              <a:rPr lang="en-IE" dirty="0">
                <a:solidFill>
                  <a:srgbClr val="FF0000"/>
                </a:solidFill>
              </a:rPr>
              <a:t>Works well </a:t>
            </a:r>
            <a:r>
              <a:rPr lang="en-IE" u="sng" dirty="0">
                <a:solidFill>
                  <a:srgbClr val="FF0000"/>
                </a:solidFill>
              </a:rPr>
              <a:t>for specific data shapes</a:t>
            </a:r>
            <a:r>
              <a:rPr lang="en-IE" dirty="0">
                <a:solidFill>
                  <a:srgbClr val="FF0000"/>
                </a:solidFill>
              </a:rPr>
              <a:t> but can't be applied universally</a:t>
            </a:r>
            <a:r>
              <a:rPr lang="en-IE" dirty="0"/>
              <a:t>.</a:t>
            </a:r>
            <a:endParaRPr lang="en-US" dirty="0"/>
          </a:p>
        </p:txBody>
      </p:sp>
      <p:pic>
        <p:nvPicPr>
          <p:cNvPr id="9" name="Picture 8">
            <a:extLst>
              <a:ext uri="{FF2B5EF4-FFF2-40B4-BE49-F238E27FC236}">
                <a16:creationId xmlns:a16="http://schemas.microsoft.com/office/drawing/2014/main" id="{FEB9803D-F925-E85B-DE88-4253359D9040}"/>
              </a:ext>
            </a:extLst>
          </p:cNvPr>
          <p:cNvPicPr>
            <a:picLocks noChangeAspect="1"/>
          </p:cNvPicPr>
          <p:nvPr/>
        </p:nvPicPr>
        <p:blipFill>
          <a:blip r:embed="rId2"/>
          <a:stretch>
            <a:fillRect/>
          </a:stretch>
        </p:blipFill>
        <p:spPr>
          <a:xfrm>
            <a:off x="1460500" y="2083197"/>
            <a:ext cx="7772400" cy="3939435"/>
          </a:xfrm>
          <a:prstGeom prst="rect">
            <a:avLst/>
          </a:prstGeom>
        </p:spPr>
      </p:pic>
    </p:spTree>
    <p:extLst>
      <p:ext uri="{BB962C8B-B14F-4D97-AF65-F5344CB8AC3E}">
        <p14:creationId xmlns:p14="http://schemas.microsoft.com/office/powerpoint/2010/main" val="9788011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80A6A-0105-8F3C-208E-E24423EBE0B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46D3182-75D0-BF46-E6B5-55BD519C246F}"/>
              </a:ext>
            </a:extLst>
          </p:cNvPr>
          <p:cNvSpPr txBox="1"/>
          <p:nvPr/>
        </p:nvSpPr>
        <p:spPr>
          <a:xfrm>
            <a:off x="543075" y="304800"/>
            <a:ext cx="11105850" cy="369332"/>
          </a:xfrm>
          <a:prstGeom prst="rect">
            <a:avLst/>
          </a:prstGeom>
          <a:noFill/>
        </p:spPr>
        <p:txBody>
          <a:bodyPr wrap="square" rtlCol="0">
            <a:spAutoFit/>
          </a:bodyPr>
          <a:lstStyle/>
          <a:p>
            <a:r>
              <a:rPr lang="en-US" b="1" dirty="0"/>
              <a:t>Conflict Resolution Strategies (node Master vs node Master) during Replication</a:t>
            </a:r>
            <a:endParaRPr lang="en-US" dirty="0"/>
          </a:p>
        </p:txBody>
      </p:sp>
      <p:sp>
        <p:nvSpPr>
          <p:cNvPr id="5" name="TextBox 4">
            <a:extLst>
              <a:ext uri="{FF2B5EF4-FFF2-40B4-BE49-F238E27FC236}">
                <a16:creationId xmlns:a16="http://schemas.microsoft.com/office/drawing/2014/main" id="{FCEDD812-DED4-4378-FC8E-416177149912}"/>
              </a:ext>
            </a:extLst>
          </p:cNvPr>
          <p:cNvSpPr txBox="1"/>
          <p:nvPr/>
        </p:nvSpPr>
        <p:spPr>
          <a:xfrm>
            <a:off x="420415" y="882868"/>
            <a:ext cx="11519338" cy="923330"/>
          </a:xfrm>
          <a:prstGeom prst="rect">
            <a:avLst/>
          </a:prstGeom>
          <a:noFill/>
        </p:spPr>
        <p:txBody>
          <a:bodyPr wrap="square" rtlCol="0">
            <a:spAutoFit/>
          </a:bodyPr>
          <a:lstStyle/>
          <a:p>
            <a:r>
              <a:rPr lang="en-IE" b="1" dirty="0"/>
              <a:t>4. Application-level resolution</a:t>
            </a:r>
            <a:r>
              <a:rPr lang="en-IE" dirty="0"/>
              <a:t> The DB surfaces the conflict to the application, which applies business logic to resolve it. </a:t>
            </a:r>
            <a:r>
              <a:rPr lang="en-IE" dirty="0">
                <a:solidFill>
                  <a:srgbClr val="FF0000"/>
                </a:solidFill>
              </a:rPr>
              <a:t>CouchDB</a:t>
            </a:r>
            <a:r>
              <a:rPr lang="en-IE" dirty="0"/>
              <a:t> does this — </a:t>
            </a:r>
            <a:r>
              <a:rPr lang="en-IE" dirty="0">
                <a:solidFill>
                  <a:srgbClr val="FF0000"/>
                </a:solidFill>
              </a:rPr>
              <a:t>it stores all conflicting revisions and asks an external app/code to pick a winner</a:t>
            </a:r>
            <a:r>
              <a:rPr lang="en-IE" dirty="0"/>
              <a:t>. Most correct approach for complex data, but puts burden on the developer.</a:t>
            </a:r>
            <a:endParaRPr lang="en-US" dirty="0"/>
          </a:p>
        </p:txBody>
      </p:sp>
      <p:pic>
        <p:nvPicPr>
          <p:cNvPr id="6" name="Picture 5">
            <a:extLst>
              <a:ext uri="{FF2B5EF4-FFF2-40B4-BE49-F238E27FC236}">
                <a16:creationId xmlns:a16="http://schemas.microsoft.com/office/drawing/2014/main" id="{3B9F1CB3-5F37-D4D5-0F98-D52ECECE6C58}"/>
              </a:ext>
            </a:extLst>
          </p:cNvPr>
          <p:cNvPicPr>
            <a:picLocks noChangeAspect="1"/>
          </p:cNvPicPr>
          <p:nvPr/>
        </p:nvPicPr>
        <p:blipFill>
          <a:blip r:embed="rId2"/>
          <a:stretch>
            <a:fillRect/>
          </a:stretch>
        </p:blipFill>
        <p:spPr>
          <a:xfrm>
            <a:off x="712952" y="2198095"/>
            <a:ext cx="7772400" cy="3777037"/>
          </a:xfrm>
          <a:prstGeom prst="rect">
            <a:avLst/>
          </a:prstGeom>
        </p:spPr>
      </p:pic>
      <p:sp>
        <p:nvSpPr>
          <p:cNvPr id="7" name="TextBox 6">
            <a:extLst>
              <a:ext uri="{FF2B5EF4-FFF2-40B4-BE49-F238E27FC236}">
                <a16:creationId xmlns:a16="http://schemas.microsoft.com/office/drawing/2014/main" id="{85AC7F30-3C4E-6FB5-0FEE-269362CB2805}"/>
              </a:ext>
            </a:extLst>
          </p:cNvPr>
          <p:cNvSpPr txBox="1"/>
          <p:nvPr/>
        </p:nvSpPr>
        <p:spPr>
          <a:xfrm>
            <a:off x="8842623" y="2101454"/>
            <a:ext cx="3097130" cy="3970318"/>
          </a:xfrm>
          <a:prstGeom prst="rect">
            <a:avLst/>
          </a:prstGeom>
          <a:noFill/>
        </p:spPr>
        <p:txBody>
          <a:bodyPr wrap="square" rtlCol="0">
            <a:spAutoFit/>
          </a:bodyPr>
          <a:lstStyle/>
          <a:p>
            <a:r>
              <a:rPr lang="en-US" dirty="0"/>
              <a:t>“Application-level” resolution, can be done both to handle conflicts on replication or conflicts on clients writing data in a single DB.</a:t>
            </a:r>
          </a:p>
          <a:p>
            <a:endParaRPr lang="en-US" dirty="0"/>
          </a:p>
          <a:p>
            <a:r>
              <a:rPr lang="en-US" dirty="0"/>
              <a:t>In IAM we use a Jenkins job that is triggered every minute that reads if there are conflicts and solve them based on a logic (which can be: merge data, take the latest data, etc.).</a:t>
            </a:r>
          </a:p>
        </p:txBody>
      </p:sp>
    </p:spTree>
    <p:extLst>
      <p:ext uri="{BB962C8B-B14F-4D97-AF65-F5344CB8AC3E}">
        <p14:creationId xmlns:p14="http://schemas.microsoft.com/office/powerpoint/2010/main" val="27314464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0E6E2D-4040-D4E5-D914-D8569160F1F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3199A5E-5C8A-BE18-A6CF-37F596536ADA}"/>
              </a:ext>
            </a:extLst>
          </p:cNvPr>
          <p:cNvSpPr txBox="1"/>
          <p:nvPr/>
        </p:nvSpPr>
        <p:spPr>
          <a:xfrm>
            <a:off x="865434" y="567558"/>
            <a:ext cx="11105850" cy="369332"/>
          </a:xfrm>
          <a:prstGeom prst="rect">
            <a:avLst/>
          </a:prstGeom>
          <a:noFill/>
        </p:spPr>
        <p:txBody>
          <a:bodyPr wrap="square" rtlCol="0">
            <a:spAutoFit/>
          </a:bodyPr>
          <a:lstStyle/>
          <a:p>
            <a:r>
              <a:rPr lang="en-US" b="1" dirty="0"/>
              <a:t>Replication can be both Synchronous or Asynchronous</a:t>
            </a:r>
            <a:endParaRPr lang="en-US" dirty="0"/>
          </a:p>
        </p:txBody>
      </p:sp>
      <p:sp>
        <p:nvSpPr>
          <p:cNvPr id="2" name="TextBox 1">
            <a:extLst>
              <a:ext uri="{FF2B5EF4-FFF2-40B4-BE49-F238E27FC236}">
                <a16:creationId xmlns:a16="http://schemas.microsoft.com/office/drawing/2014/main" id="{08E15E9A-1F26-F044-90F2-596A31048742}"/>
              </a:ext>
            </a:extLst>
          </p:cNvPr>
          <p:cNvSpPr txBox="1"/>
          <p:nvPr/>
        </p:nvSpPr>
        <p:spPr>
          <a:xfrm>
            <a:off x="7381847" y="1481959"/>
            <a:ext cx="3581878" cy="2308324"/>
          </a:xfrm>
          <a:prstGeom prst="rect">
            <a:avLst/>
          </a:prstGeom>
          <a:noFill/>
        </p:spPr>
        <p:txBody>
          <a:bodyPr wrap="none" rtlCol="0">
            <a:spAutoFit/>
          </a:bodyPr>
          <a:lstStyle/>
          <a:p>
            <a:r>
              <a:rPr lang="en-US" b="1" dirty="0"/>
              <a:t>Async Replication</a:t>
            </a:r>
          </a:p>
          <a:p>
            <a:endParaRPr lang="en-US" dirty="0"/>
          </a:p>
          <a:p>
            <a:r>
              <a:rPr lang="en-US" dirty="0"/>
              <a:t>Pros:</a:t>
            </a:r>
          </a:p>
          <a:p>
            <a:pPr marL="285750" indent="-285750">
              <a:buFont typeface="Arial" panose="020B0604020202020204" pitchFamily="34" charset="0"/>
              <a:buChar char="•"/>
            </a:pPr>
            <a:r>
              <a:rPr lang="en-US" dirty="0"/>
              <a:t>Sync is done in background</a:t>
            </a:r>
          </a:p>
          <a:p>
            <a:pPr marL="285750" indent="-285750">
              <a:buFont typeface="Arial" panose="020B0604020202020204" pitchFamily="34" charset="0"/>
              <a:buChar char="•"/>
            </a:pPr>
            <a:r>
              <a:rPr lang="en-US" dirty="0"/>
              <a:t>Faster than Sync replication</a:t>
            </a:r>
          </a:p>
          <a:p>
            <a:endParaRPr lang="en-US" dirty="0"/>
          </a:p>
          <a:p>
            <a:r>
              <a:rPr lang="en-US" dirty="0"/>
              <a:t>Con:</a:t>
            </a:r>
          </a:p>
          <a:p>
            <a:pPr marL="285750" indent="-285750">
              <a:buFont typeface="Arial" panose="020B0604020202020204" pitchFamily="34" charset="0"/>
              <a:buChar char="•"/>
            </a:pPr>
            <a:r>
              <a:rPr lang="en-US" dirty="0"/>
              <a:t>Temporarily Data inconsistency</a:t>
            </a:r>
          </a:p>
        </p:txBody>
      </p:sp>
      <p:sp>
        <p:nvSpPr>
          <p:cNvPr id="3" name="TextBox 2">
            <a:extLst>
              <a:ext uri="{FF2B5EF4-FFF2-40B4-BE49-F238E27FC236}">
                <a16:creationId xmlns:a16="http://schemas.microsoft.com/office/drawing/2014/main" id="{5FEBB3EF-194A-85AE-A545-6FE70998EE6D}"/>
              </a:ext>
            </a:extLst>
          </p:cNvPr>
          <p:cNvSpPr txBox="1"/>
          <p:nvPr/>
        </p:nvSpPr>
        <p:spPr>
          <a:xfrm>
            <a:off x="1228275" y="1481959"/>
            <a:ext cx="4878470" cy="2862322"/>
          </a:xfrm>
          <a:prstGeom prst="rect">
            <a:avLst/>
          </a:prstGeom>
          <a:noFill/>
        </p:spPr>
        <p:txBody>
          <a:bodyPr wrap="square" rtlCol="0">
            <a:spAutoFit/>
          </a:bodyPr>
          <a:lstStyle/>
          <a:p>
            <a:r>
              <a:rPr lang="en-US" b="1" dirty="0"/>
              <a:t>Sync Replication</a:t>
            </a:r>
          </a:p>
          <a:p>
            <a:endParaRPr lang="en-US" dirty="0"/>
          </a:p>
          <a:p>
            <a:r>
              <a:rPr lang="en-US" dirty="0"/>
              <a:t>Pros:</a:t>
            </a:r>
          </a:p>
          <a:p>
            <a:pPr marL="285750" indent="-285750">
              <a:buFont typeface="Arial" panose="020B0604020202020204" pitchFamily="34" charset="0"/>
              <a:buChar char="•"/>
            </a:pPr>
            <a:r>
              <a:rPr lang="en-US" dirty="0"/>
              <a:t>Changes are committed to both Leaders and Followers simultaneously </a:t>
            </a:r>
          </a:p>
          <a:p>
            <a:pPr marL="285750" indent="-285750">
              <a:buFont typeface="Arial" panose="020B0604020202020204" pitchFamily="34" charset="0"/>
              <a:buChar char="•"/>
            </a:pPr>
            <a:r>
              <a:rPr lang="en-US" dirty="0"/>
              <a:t>Guarantee consistency of the data</a:t>
            </a:r>
          </a:p>
          <a:p>
            <a:endParaRPr lang="en-US" dirty="0"/>
          </a:p>
          <a:p>
            <a:r>
              <a:rPr lang="en-US" dirty="0"/>
              <a:t>Con:</a:t>
            </a:r>
          </a:p>
          <a:p>
            <a:pPr marL="285750" indent="-285750">
              <a:buFont typeface="Arial" panose="020B0604020202020204" pitchFamily="34" charset="0"/>
              <a:buChar char="•"/>
            </a:pPr>
            <a:r>
              <a:rPr lang="en-US" dirty="0"/>
              <a:t>Slower than Async =&gt; impact the writes performance</a:t>
            </a:r>
          </a:p>
        </p:txBody>
      </p:sp>
      <p:sp>
        <p:nvSpPr>
          <p:cNvPr id="5" name="TextBox 4">
            <a:extLst>
              <a:ext uri="{FF2B5EF4-FFF2-40B4-BE49-F238E27FC236}">
                <a16:creationId xmlns:a16="http://schemas.microsoft.com/office/drawing/2014/main" id="{C1B79944-D921-126F-255A-6C9C5C03B163}"/>
              </a:ext>
            </a:extLst>
          </p:cNvPr>
          <p:cNvSpPr txBox="1"/>
          <p:nvPr/>
        </p:nvSpPr>
        <p:spPr>
          <a:xfrm>
            <a:off x="531308" y="5013434"/>
            <a:ext cx="11308160" cy="923330"/>
          </a:xfrm>
          <a:prstGeom prst="rect">
            <a:avLst/>
          </a:prstGeom>
          <a:noFill/>
        </p:spPr>
        <p:txBody>
          <a:bodyPr wrap="none" rtlCol="0">
            <a:spAutoFit/>
          </a:bodyPr>
          <a:lstStyle/>
          <a:p>
            <a:r>
              <a:rPr lang="en-US" dirty="0">
                <a:solidFill>
                  <a:srgbClr val="FF0000"/>
                </a:solidFill>
              </a:rPr>
              <a:t>NB^</a:t>
            </a:r>
          </a:p>
          <a:p>
            <a:r>
              <a:rPr lang="en-US" dirty="0">
                <a:solidFill>
                  <a:srgbClr val="FF0000"/>
                </a:solidFill>
              </a:rPr>
              <a:t>Sync means =&gt; the change is </a:t>
            </a:r>
            <a:r>
              <a:rPr lang="en-US" b="1" dirty="0">
                <a:solidFill>
                  <a:srgbClr val="FF0000"/>
                </a:solidFill>
              </a:rPr>
              <a:t>immediately</a:t>
            </a:r>
            <a:r>
              <a:rPr lang="en-US" dirty="0">
                <a:solidFill>
                  <a:srgbClr val="FF0000"/>
                </a:solidFill>
              </a:rPr>
              <a:t> applied by the node in the DB and </a:t>
            </a:r>
            <a:r>
              <a:rPr lang="en-US" b="1" dirty="0">
                <a:solidFill>
                  <a:srgbClr val="FF0000"/>
                </a:solidFill>
              </a:rPr>
              <a:t>saved in the Disk</a:t>
            </a:r>
            <a:r>
              <a:rPr lang="en-US" dirty="0">
                <a:solidFill>
                  <a:srgbClr val="FF0000"/>
                </a:solidFill>
              </a:rPr>
              <a:t>!</a:t>
            </a:r>
          </a:p>
          <a:p>
            <a:r>
              <a:rPr lang="en-US" dirty="0">
                <a:solidFill>
                  <a:srgbClr val="FF0000"/>
                </a:solidFill>
              </a:rPr>
              <a:t>Async means =&gt; the change is stored in </a:t>
            </a:r>
            <a:r>
              <a:rPr lang="en-US" b="1" dirty="0">
                <a:solidFill>
                  <a:srgbClr val="FF0000"/>
                </a:solidFill>
              </a:rPr>
              <a:t>queue</a:t>
            </a:r>
            <a:r>
              <a:rPr lang="en-US" dirty="0">
                <a:solidFill>
                  <a:srgbClr val="FF0000"/>
                </a:solidFill>
              </a:rPr>
              <a:t> and </a:t>
            </a:r>
            <a:r>
              <a:rPr lang="en-US" b="1" dirty="0">
                <a:solidFill>
                  <a:srgbClr val="FF0000"/>
                </a:solidFill>
              </a:rPr>
              <a:t>only later</a:t>
            </a:r>
            <a:r>
              <a:rPr lang="en-US" dirty="0">
                <a:solidFill>
                  <a:srgbClr val="FF0000"/>
                </a:solidFill>
              </a:rPr>
              <a:t> the node will apply the change in the Disk of its DB.</a:t>
            </a:r>
          </a:p>
        </p:txBody>
      </p:sp>
    </p:spTree>
    <p:extLst>
      <p:ext uri="{BB962C8B-B14F-4D97-AF65-F5344CB8AC3E}">
        <p14:creationId xmlns:p14="http://schemas.microsoft.com/office/powerpoint/2010/main" val="38507450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E73EE-BBA0-3C03-3D9C-2322D4A5D52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88615AF-A3E8-14F8-537B-900E8DC0B479}"/>
              </a:ext>
            </a:extLst>
          </p:cNvPr>
          <p:cNvSpPr txBox="1"/>
          <p:nvPr/>
        </p:nvSpPr>
        <p:spPr>
          <a:xfrm>
            <a:off x="518591" y="315378"/>
            <a:ext cx="11105850" cy="707886"/>
          </a:xfrm>
          <a:prstGeom prst="rect">
            <a:avLst/>
          </a:prstGeom>
          <a:noFill/>
        </p:spPr>
        <p:txBody>
          <a:bodyPr wrap="square" rtlCol="0">
            <a:spAutoFit/>
          </a:bodyPr>
          <a:lstStyle/>
          <a:p>
            <a:r>
              <a:rPr lang="en-US" sz="2000" b="1" dirty="0">
                <a:solidFill>
                  <a:srgbClr val="FF0000"/>
                </a:solidFill>
              </a:rPr>
              <a:t>Read-Write Quorum </a:t>
            </a:r>
            <a:r>
              <a:rPr lang="en-US" sz="2000" b="1" dirty="0"/>
              <a:t>(this is not the same as REPLICATION!) =&gt; this is mainly related to </a:t>
            </a:r>
            <a:r>
              <a:rPr lang="en-US" sz="2000" b="1" dirty="0">
                <a:solidFill>
                  <a:schemeClr val="accent6"/>
                </a:solidFill>
              </a:rPr>
              <a:t>DURABILITY</a:t>
            </a:r>
            <a:r>
              <a:rPr lang="en-US" sz="2000" b="1" dirty="0"/>
              <a:t> of DATA</a:t>
            </a:r>
            <a:endParaRPr lang="en-US" sz="2000" dirty="0"/>
          </a:p>
        </p:txBody>
      </p:sp>
      <p:sp>
        <p:nvSpPr>
          <p:cNvPr id="2" name="TextBox 1">
            <a:extLst>
              <a:ext uri="{FF2B5EF4-FFF2-40B4-BE49-F238E27FC236}">
                <a16:creationId xmlns:a16="http://schemas.microsoft.com/office/drawing/2014/main" id="{CEBF6BE0-231F-AE95-B233-2BE1F8C159C0}"/>
              </a:ext>
            </a:extLst>
          </p:cNvPr>
          <p:cNvSpPr txBox="1"/>
          <p:nvPr/>
        </p:nvSpPr>
        <p:spPr>
          <a:xfrm>
            <a:off x="1075640" y="1387365"/>
            <a:ext cx="10548801" cy="4801314"/>
          </a:xfrm>
          <a:prstGeom prst="rect">
            <a:avLst/>
          </a:prstGeom>
          <a:noFill/>
        </p:spPr>
        <p:txBody>
          <a:bodyPr wrap="square" rtlCol="0">
            <a:spAutoFit/>
          </a:bodyPr>
          <a:lstStyle/>
          <a:p>
            <a:r>
              <a:rPr lang="en-US" dirty="0"/>
              <a:t>Suppose you have a replication mechanism with 1 Leader and 2 Followers.</a:t>
            </a:r>
          </a:p>
          <a:p>
            <a:r>
              <a:rPr lang="en-US" dirty="0"/>
              <a:t>According to the read/write quorum, we need to guarantee:</a:t>
            </a:r>
          </a:p>
          <a:p>
            <a:pPr algn="ctr"/>
            <a:r>
              <a:rPr lang="en-US" b="1" dirty="0">
                <a:solidFill>
                  <a:srgbClr val="FF0000"/>
                </a:solidFill>
              </a:rPr>
              <a:t>W + R &gt; N</a:t>
            </a:r>
          </a:p>
          <a:p>
            <a:r>
              <a:rPr lang="en-US" dirty="0"/>
              <a:t>Where:</a:t>
            </a:r>
          </a:p>
          <a:p>
            <a:pPr marL="285750" indent="-285750">
              <a:buFont typeface="Arial" panose="020B0604020202020204" pitchFamily="34" charset="0"/>
              <a:buChar char="•"/>
            </a:pPr>
            <a:r>
              <a:rPr lang="en-US" dirty="0"/>
              <a:t>W = the number of replicas where you write content before declaring a successful write operation</a:t>
            </a:r>
          </a:p>
          <a:p>
            <a:pPr marL="285750" indent="-285750">
              <a:buFont typeface="Arial" panose="020B0604020202020204" pitchFamily="34" charset="0"/>
              <a:buChar char="•"/>
            </a:pPr>
            <a:r>
              <a:rPr lang="en-US" dirty="0"/>
              <a:t>R = the number of replicas from where you read content before declaring a successful read operation</a:t>
            </a:r>
          </a:p>
          <a:p>
            <a:pPr marL="285750" indent="-285750">
              <a:buFont typeface="Arial" panose="020B0604020202020204" pitchFamily="34" charset="0"/>
              <a:buChar char="•"/>
            </a:pPr>
            <a:r>
              <a:rPr lang="en-US" dirty="0"/>
              <a:t>N = the total number of servers (in this case N = 3)</a:t>
            </a:r>
          </a:p>
          <a:p>
            <a:endParaRPr lang="en-US" dirty="0"/>
          </a:p>
          <a:p>
            <a:endParaRPr lang="en-US" dirty="0"/>
          </a:p>
          <a:p>
            <a:r>
              <a:rPr lang="en-US" dirty="0"/>
              <a:t>In a </a:t>
            </a:r>
            <a:r>
              <a:rPr lang="en-US" b="1" dirty="0"/>
              <a:t>read heavy system</a:t>
            </a:r>
            <a:r>
              <a:rPr lang="en-US" dirty="0"/>
              <a:t> you could decide that you want to to read from 2 servers only for a successful read and write to at least 2 servers to declare a successful write. Indeed, we would have:</a:t>
            </a:r>
          </a:p>
          <a:p>
            <a:pPr algn="ctr"/>
            <a:r>
              <a:rPr lang="en-US" dirty="0"/>
              <a:t>2 + 2 &gt; 3</a:t>
            </a:r>
            <a:br>
              <a:rPr lang="en-US" dirty="0"/>
            </a:br>
            <a:endParaRPr lang="en-US" dirty="0"/>
          </a:p>
          <a:p>
            <a:r>
              <a:rPr lang="en-US" dirty="0"/>
              <a:t>If you add more nodes and have 1 Leader and 4 Followers (i.e. N=5), In a </a:t>
            </a:r>
            <a:r>
              <a:rPr lang="en-US" b="1" dirty="0"/>
              <a:t>read heavy system</a:t>
            </a:r>
            <a:r>
              <a:rPr lang="en-US" dirty="0"/>
              <a:t> you could decide that you want to to read from 2 servers only for a successful read and write to at least 4 servers to declare a successful write. Indeed, we would have:</a:t>
            </a:r>
          </a:p>
          <a:p>
            <a:pPr algn="ctr"/>
            <a:r>
              <a:rPr lang="en-US" dirty="0"/>
              <a:t>4 + 2 &gt; 5</a:t>
            </a:r>
          </a:p>
        </p:txBody>
      </p:sp>
    </p:spTree>
    <p:extLst>
      <p:ext uri="{BB962C8B-B14F-4D97-AF65-F5344CB8AC3E}">
        <p14:creationId xmlns:p14="http://schemas.microsoft.com/office/powerpoint/2010/main" val="11882106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29430A-56CC-11C6-39DA-5A1548FD7F8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241F78-A4F7-E120-6E8D-8C5ADDC8A8EB}"/>
              </a:ext>
            </a:extLst>
          </p:cNvPr>
          <p:cNvSpPr txBox="1"/>
          <p:nvPr/>
        </p:nvSpPr>
        <p:spPr>
          <a:xfrm>
            <a:off x="865434" y="567558"/>
            <a:ext cx="11105850" cy="369332"/>
          </a:xfrm>
          <a:prstGeom prst="rect">
            <a:avLst/>
          </a:prstGeom>
          <a:noFill/>
        </p:spPr>
        <p:txBody>
          <a:bodyPr wrap="square" rtlCol="0">
            <a:spAutoFit/>
          </a:bodyPr>
          <a:lstStyle/>
          <a:p>
            <a:r>
              <a:rPr lang="en-US" b="1" dirty="0"/>
              <a:t>Read-Write Quorum</a:t>
            </a:r>
            <a:endParaRPr lang="en-US" dirty="0"/>
          </a:p>
        </p:txBody>
      </p:sp>
      <p:pic>
        <p:nvPicPr>
          <p:cNvPr id="5" name="Picture 4">
            <a:extLst>
              <a:ext uri="{FF2B5EF4-FFF2-40B4-BE49-F238E27FC236}">
                <a16:creationId xmlns:a16="http://schemas.microsoft.com/office/drawing/2014/main" id="{12D7AA81-FF05-0EB7-1854-A28DE504FBE6}"/>
              </a:ext>
            </a:extLst>
          </p:cNvPr>
          <p:cNvPicPr>
            <a:picLocks noChangeAspect="1"/>
          </p:cNvPicPr>
          <p:nvPr/>
        </p:nvPicPr>
        <p:blipFill>
          <a:blip r:embed="rId2"/>
          <a:stretch>
            <a:fillRect/>
          </a:stretch>
        </p:blipFill>
        <p:spPr>
          <a:xfrm>
            <a:off x="3906504" y="0"/>
            <a:ext cx="6922495" cy="6858000"/>
          </a:xfrm>
          <a:prstGeom prst="rect">
            <a:avLst/>
          </a:prstGeom>
        </p:spPr>
      </p:pic>
    </p:spTree>
    <p:extLst>
      <p:ext uri="{BB962C8B-B14F-4D97-AF65-F5344CB8AC3E}">
        <p14:creationId xmlns:p14="http://schemas.microsoft.com/office/powerpoint/2010/main" val="547038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FEDC9-09C4-9469-E6ED-C909C220519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8245F07-3A18-7767-1D54-196C2D234E3F}"/>
              </a:ext>
            </a:extLst>
          </p:cNvPr>
          <p:cNvSpPr txBox="1"/>
          <p:nvPr/>
        </p:nvSpPr>
        <p:spPr>
          <a:xfrm>
            <a:off x="381958" y="388882"/>
            <a:ext cx="11105850" cy="369332"/>
          </a:xfrm>
          <a:prstGeom prst="rect">
            <a:avLst/>
          </a:prstGeom>
          <a:noFill/>
        </p:spPr>
        <p:txBody>
          <a:bodyPr wrap="square" rtlCol="0">
            <a:spAutoFit/>
          </a:bodyPr>
          <a:lstStyle/>
          <a:p>
            <a:r>
              <a:rPr lang="en-US" b="1" dirty="0"/>
              <a:t>From Read-Write Quorum =&gt; To Replication</a:t>
            </a:r>
            <a:endParaRPr lang="en-US" dirty="0"/>
          </a:p>
        </p:txBody>
      </p:sp>
      <p:pic>
        <p:nvPicPr>
          <p:cNvPr id="3" name="Picture 2">
            <a:extLst>
              <a:ext uri="{FF2B5EF4-FFF2-40B4-BE49-F238E27FC236}">
                <a16:creationId xmlns:a16="http://schemas.microsoft.com/office/drawing/2014/main" id="{00D9CDAA-55BF-2526-B39D-37F4E3530028}"/>
              </a:ext>
            </a:extLst>
          </p:cNvPr>
          <p:cNvPicPr>
            <a:picLocks noChangeAspect="1"/>
          </p:cNvPicPr>
          <p:nvPr/>
        </p:nvPicPr>
        <p:blipFill>
          <a:blip r:embed="rId2"/>
          <a:stretch>
            <a:fillRect/>
          </a:stretch>
        </p:blipFill>
        <p:spPr>
          <a:xfrm>
            <a:off x="381958" y="918519"/>
            <a:ext cx="5110205" cy="3346824"/>
          </a:xfrm>
          <a:prstGeom prst="rect">
            <a:avLst/>
          </a:prstGeom>
        </p:spPr>
      </p:pic>
      <p:sp>
        <p:nvSpPr>
          <p:cNvPr id="6" name="TextBox 5">
            <a:extLst>
              <a:ext uri="{FF2B5EF4-FFF2-40B4-BE49-F238E27FC236}">
                <a16:creationId xmlns:a16="http://schemas.microsoft.com/office/drawing/2014/main" id="{E9A74DB0-1365-71D5-4238-2C70ADC192EF}"/>
              </a:ext>
            </a:extLst>
          </p:cNvPr>
          <p:cNvSpPr txBox="1"/>
          <p:nvPr/>
        </p:nvSpPr>
        <p:spPr>
          <a:xfrm>
            <a:off x="5780689" y="1437769"/>
            <a:ext cx="5255173" cy="2308324"/>
          </a:xfrm>
          <a:prstGeom prst="rect">
            <a:avLst/>
          </a:prstGeom>
          <a:noFill/>
        </p:spPr>
        <p:txBody>
          <a:bodyPr wrap="square" rtlCol="0">
            <a:spAutoFit/>
          </a:bodyPr>
          <a:lstStyle/>
          <a:p>
            <a:r>
              <a:rPr lang="en-IE" dirty="0"/>
              <a:t>Quorum operates </a:t>
            </a:r>
            <a:r>
              <a:rPr lang="en-IE" b="1" dirty="0">
                <a:solidFill>
                  <a:srgbClr val="FF0000"/>
                </a:solidFill>
              </a:rPr>
              <a:t>synchronously</a:t>
            </a:r>
            <a:r>
              <a:rPr lang="en-IE" b="1" dirty="0"/>
              <a:t> at write time</a:t>
            </a:r>
            <a:r>
              <a:rPr lang="en-IE" dirty="0"/>
              <a:t>. </a:t>
            </a:r>
          </a:p>
          <a:p>
            <a:endParaRPr lang="en-IE" dirty="0"/>
          </a:p>
          <a:p>
            <a:r>
              <a:rPr lang="en-IE" dirty="0"/>
              <a:t>Replication is done </a:t>
            </a:r>
            <a:r>
              <a:rPr lang="en-IE" dirty="0">
                <a:solidFill>
                  <a:srgbClr val="FF0000"/>
                </a:solidFill>
              </a:rPr>
              <a:t>after reaching the quorum</a:t>
            </a:r>
            <a:r>
              <a:rPr lang="en-IE" dirty="0"/>
              <a:t> and can be </a:t>
            </a:r>
            <a:r>
              <a:rPr lang="en-IE" b="1" dirty="0"/>
              <a:t>synchronous or</a:t>
            </a:r>
            <a:r>
              <a:rPr lang="en-IE" dirty="0"/>
              <a:t> </a:t>
            </a:r>
            <a:r>
              <a:rPr lang="en-IE" b="1" dirty="0"/>
              <a:t>asynchronous.</a:t>
            </a:r>
          </a:p>
          <a:p>
            <a:br>
              <a:rPr lang="en-IE" b="1" dirty="0"/>
            </a:br>
            <a:r>
              <a:rPr lang="en-IE" u="sng" dirty="0"/>
              <a:t>A write can pass the quorum gate and still produce a conflict later — these are independent concerns layered on top of each other.</a:t>
            </a:r>
          </a:p>
        </p:txBody>
      </p:sp>
    </p:spTree>
    <p:extLst>
      <p:ext uri="{BB962C8B-B14F-4D97-AF65-F5344CB8AC3E}">
        <p14:creationId xmlns:p14="http://schemas.microsoft.com/office/powerpoint/2010/main" val="35124358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FF6F3-5F2A-3E2F-1686-DC09A51C808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C96F72E-22A7-A151-4004-198E2C4BD1FC}"/>
              </a:ext>
            </a:extLst>
          </p:cNvPr>
          <p:cNvSpPr txBox="1"/>
          <p:nvPr/>
        </p:nvSpPr>
        <p:spPr>
          <a:xfrm>
            <a:off x="381958" y="388882"/>
            <a:ext cx="11105850" cy="369332"/>
          </a:xfrm>
          <a:prstGeom prst="rect">
            <a:avLst/>
          </a:prstGeom>
          <a:noFill/>
        </p:spPr>
        <p:txBody>
          <a:bodyPr wrap="square" rtlCol="0">
            <a:spAutoFit/>
          </a:bodyPr>
          <a:lstStyle/>
          <a:p>
            <a:r>
              <a:rPr lang="en-US" b="1" dirty="0"/>
              <a:t>From Read-Write Quorum =&gt; To Replication</a:t>
            </a:r>
            <a:endParaRPr lang="en-US" dirty="0"/>
          </a:p>
        </p:txBody>
      </p:sp>
      <p:pic>
        <p:nvPicPr>
          <p:cNvPr id="5" name="Picture 4">
            <a:extLst>
              <a:ext uri="{FF2B5EF4-FFF2-40B4-BE49-F238E27FC236}">
                <a16:creationId xmlns:a16="http://schemas.microsoft.com/office/drawing/2014/main" id="{90C8C6C1-7616-3D04-2D2B-CEA9C0D3337F}"/>
              </a:ext>
            </a:extLst>
          </p:cNvPr>
          <p:cNvPicPr>
            <a:picLocks noChangeAspect="1"/>
          </p:cNvPicPr>
          <p:nvPr/>
        </p:nvPicPr>
        <p:blipFill>
          <a:blip r:embed="rId2"/>
          <a:stretch>
            <a:fillRect/>
          </a:stretch>
        </p:blipFill>
        <p:spPr>
          <a:xfrm>
            <a:off x="415283" y="1329334"/>
            <a:ext cx="5680717" cy="3132887"/>
          </a:xfrm>
          <a:prstGeom prst="rect">
            <a:avLst/>
          </a:prstGeom>
        </p:spPr>
      </p:pic>
      <p:sp>
        <p:nvSpPr>
          <p:cNvPr id="7" name="TextBox 6">
            <a:extLst>
              <a:ext uri="{FF2B5EF4-FFF2-40B4-BE49-F238E27FC236}">
                <a16:creationId xmlns:a16="http://schemas.microsoft.com/office/drawing/2014/main" id="{875D008F-9146-35C1-E494-BDB6853BF6F0}"/>
              </a:ext>
            </a:extLst>
          </p:cNvPr>
          <p:cNvSpPr txBox="1"/>
          <p:nvPr/>
        </p:nvSpPr>
        <p:spPr>
          <a:xfrm>
            <a:off x="381958" y="910619"/>
            <a:ext cx="906595" cy="307777"/>
          </a:xfrm>
          <a:prstGeom prst="rect">
            <a:avLst/>
          </a:prstGeom>
          <a:noFill/>
        </p:spPr>
        <p:txBody>
          <a:bodyPr wrap="none" rtlCol="0">
            <a:spAutoFit/>
          </a:bodyPr>
          <a:lstStyle/>
          <a:p>
            <a:r>
              <a:rPr lang="en-US" sz="1400" dirty="0"/>
              <a:t>Example:</a:t>
            </a:r>
          </a:p>
        </p:txBody>
      </p:sp>
      <p:sp>
        <p:nvSpPr>
          <p:cNvPr id="8" name="TextBox 7">
            <a:extLst>
              <a:ext uri="{FF2B5EF4-FFF2-40B4-BE49-F238E27FC236}">
                <a16:creationId xmlns:a16="http://schemas.microsoft.com/office/drawing/2014/main" id="{32F641F5-926E-A334-487B-31C515E42B89}"/>
              </a:ext>
            </a:extLst>
          </p:cNvPr>
          <p:cNvSpPr txBox="1"/>
          <p:nvPr/>
        </p:nvSpPr>
        <p:spPr>
          <a:xfrm>
            <a:off x="6255450" y="910619"/>
            <a:ext cx="5680717" cy="3970318"/>
          </a:xfrm>
          <a:prstGeom prst="rect">
            <a:avLst/>
          </a:prstGeom>
          <a:noFill/>
        </p:spPr>
        <p:txBody>
          <a:bodyPr wrap="square" rtlCol="0">
            <a:spAutoFit/>
          </a:bodyPr>
          <a:lstStyle/>
          <a:p>
            <a:r>
              <a:rPr lang="en-IE" dirty="0"/>
              <a:t>When Node B "confirms" a write for quorum purposes, it does </a:t>
            </a:r>
            <a:r>
              <a:rPr lang="en-IE" b="1" dirty="0"/>
              <a:t>two things atomically</a:t>
            </a:r>
            <a:r>
              <a:rPr lang="en-IE" dirty="0"/>
              <a:t>:</a:t>
            </a:r>
          </a:p>
          <a:p>
            <a:r>
              <a:rPr lang="en-IE" dirty="0"/>
              <a:t>- Writes the value to its local storage</a:t>
            </a:r>
          </a:p>
          <a:p>
            <a:r>
              <a:rPr lang="en-IE" dirty="0"/>
              <a:t>- Sends an acknowledgement back to the coordinator</a:t>
            </a:r>
          </a:p>
          <a:p>
            <a:endParaRPr lang="en-IE" dirty="0"/>
          </a:p>
          <a:p>
            <a:r>
              <a:rPr lang="en-IE" dirty="0">
                <a:solidFill>
                  <a:srgbClr val="FF0000"/>
                </a:solidFill>
              </a:rPr>
              <a:t>There is </a:t>
            </a:r>
            <a:r>
              <a:rPr lang="en-IE" b="1" dirty="0">
                <a:solidFill>
                  <a:srgbClr val="FF0000"/>
                </a:solidFill>
              </a:rPr>
              <a:t>no distributed lock</a:t>
            </a:r>
            <a:r>
              <a:rPr lang="en-IE" dirty="0">
                <a:solidFill>
                  <a:srgbClr val="FF0000"/>
                </a:solidFill>
              </a:rPr>
              <a:t> involved</a:t>
            </a:r>
            <a:r>
              <a:rPr lang="en-IE" dirty="0"/>
              <a:t>. Node B just writes locally and says "done". It has no awareness that another write for the same key might be in flight on Node C at the same moment.</a:t>
            </a:r>
          </a:p>
          <a:p>
            <a:endParaRPr lang="en-US" dirty="0"/>
          </a:p>
          <a:p>
            <a:r>
              <a:rPr lang="en-IE" dirty="0"/>
              <a:t>Node B confirmed both writes </a:t>
            </a:r>
            <a:r>
              <a:rPr lang="en-IE" b="1" dirty="0"/>
              <a:t>independently and without coordination</a:t>
            </a:r>
            <a:r>
              <a:rPr lang="en-IE" dirty="0"/>
              <a:t>. It simply wrote each value as it arrived. No lock, no check against the other in-flight write.</a:t>
            </a:r>
            <a:endParaRPr lang="en-US" dirty="0"/>
          </a:p>
        </p:txBody>
      </p:sp>
      <p:sp>
        <p:nvSpPr>
          <p:cNvPr id="9" name="TextBox 8">
            <a:extLst>
              <a:ext uri="{FF2B5EF4-FFF2-40B4-BE49-F238E27FC236}">
                <a16:creationId xmlns:a16="http://schemas.microsoft.com/office/drawing/2014/main" id="{B0D78306-C5DD-6A33-A7B6-7A7B20D742DD}"/>
              </a:ext>
            </a:extLst>
          </p:cNvPr>
          <p:cNvSpPr txBox="1"/>
          <p:nvPr/>
        </p:nvSpPr>
        <p:spPr>
          <a:xfrm>
            <a:off x="503754" y="4991875"/>
            <a:ext cx="10910482" cy="1477328"/>
          </a:xfrm>
          <a:prstGeom prst="rect">
            <a:avLst/>
          </a:prstGeom>
          <a:noFill/>
        </p:spPr>
        <p:txBody>
          <a:bodyPr wrap="square" rtlCol="0">
            <a:spAutoFit/>
          </a:bodyPr>
          <a:lstStyle/>
          <a:p>
            <a:r>
              <a:rPr lang="en-US" b="1" dirty="0">
                <a:solidFill>
                  <a:srgbClr val="FF0000"/>
                </a:solidFill>
              </a:rPr>
              <a:t>It does not matter</a:t>
            </a:r>
            <a:r>
              <a:rPr lang="en-US" b="1" dirty="0"/>
              <a:t> if we use sync or async replication + quorum</a:t>
            </a:r>
            <a:r>
              <a:rPr lang="en-US" dirty="0"/>
              <a:t>. </a:t>
            </a:r>
            <a:r>
              <a:rPr lang="en-US" b="1" dirty="0">
                <a:solidFill>
                  <a:srgbClr val="FF0000"/>
                </a:solidFill>
              </a:rPr>
              <a:t>In both cases there can be conflicts!</a:t>
            </a:r>
          </a:p>
          <a:p>
            <a:r>
              <a:rPr lang="en-US" dirty="0"/>
              <a:t>If you apply quorum and sync =&gt; the data are immediately written in the Disk of the “W” nodes.</a:t>
            </a:r>
          </a:p>
          <a:p>
            <a:r>
              <a:rPr lang="en-US" dirty="0"/>
              <a:t>if you apply quorum and async =&gt; the data are queued and later stored in the Disk of “W” nodes.</a:t>
            </a:r>
          </a:p>
          <a:p>
            <a:r>
              <a:rPr lang="en-IE" dirty="0"/>
              <a:t>But there is still no global checkpoint that said </a:t>
            </a:r>
            <a:r>
              <a:rPr lang="en-IE" b="1" dirty="0"/>
              <a:t>"is anyone else writing this key right now?"</a:t>
            </a:r>
            <a:r>
              <a:rPr lang="en-US" b="1" dirty="0"/>
              <a:t>  </a:t>
            </a:r>
            <a:r>
              <a:rPr lang="en-US" dirty="0"/>
              <a:t>=&gt; i.e. </a:t>
            </a:r>
            <a:r>
              <a:rPr lang="en-IE" dirty="0"/>
              <a:t>both masters </a:t>
            </a:r>
            <a:r>
              <a:rPr lang="en-IE" b="1" dirty="0"/>
              <a:t>independently decided to accept the write</a:t>
            </a:r>
            <a:r>
              <a:rPr lang="en-IE" dirty="0"/>
              <a:t> before any coordination happened. </a:t>
            </a:r>
            <a:endParaRPr lang="en-US" dirty="0"/>
          </a:p>
        </p:txBody>
      </p:sp>
    </p:spTree>
    <p:extLst>
      <p:ext uri="{BB962C8B-B14F-4D97-AF65-F5344CB8AC3E}">
        <p14:creationId xmlns:p14="http://schemas.microsoft.com/office/powerpoint/2010/main" val="29553254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1FDCD-DBD8-1F27-4F44-4822FA3D5F0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02528E1-BA0C-2548-2886-AB75B9117AFA}"/>
              </a:ext>
            </a:extLst>
          </p:cNvPr>
          <p:cNvSpPr txBox="1"/>
          <p:nvPr/>
        </p:nvSpPr>
        <p:spPr>
          <a:xfrm>
            <a:off x="381958" y="388882"/>
            <a:ext cx="11105850" cy="369332"/>
          </a:xfrm>
          <a:prstGeom prst="rect">
            <a:avLst/>
          </a:prstGeom>
          <a:noFill/>
        </p:spPr>
        <p:txBody>
          <a:bodyPr wrap="square" rtlCol="0">
            <a:spAutoFit/>
          </a:bodyPr>
          <a:lstStyle/>
          <a:p>
            <a:r>
              <a:rPr lang="en-US" b="1" dirty="0"/>
              <a:t>Read-Write Quorum + Replication</a:t>
            </a:r>
            <a:endParaRPr lang="en-US" dirty="0"/>
          </a:p>
        </p:txBody>
      </p:sp>
      <p:sp>
        <p:nvSpPr>
          <p:cNvPr id="9" name="TextBox 8">
            <a:extLst>
              <a:ext uri="{FF2B5EF4-FFF2-40B4-BE49-F238E27FC236}">
                <a16:creationId xmlns:a16="http://schemas.microsoft.com/office/drawing/2014/main" id="{3447508E-6EED-CB6D-52FD-DAFF6AD1992B}"/>
              </a:ext>
            </a:extLst>
          </p:cNvPr>
          <p:cNvSpPr txBox="1"/>
          <p:nvPr/>
        </p:nvSpPr>
        <p:spPr>
          <a:xfrm>
            <a:off x="5934883" y="1143343"/>
            <a:ext cx="5255916" cy="1754326"/>
          </a:xfrm>
          <a:prstGeom prst="rect">
            <a:avLst/>
          </a:prstGeom>
          <a:noFill/>
        </p:spPr>
        <p:txBody>
          <a:bodyPr wrap="square" rtlCol="0">
            <a:spAutoFit/>
          </a:bodyPr>
          <a:lstStyle/>
          <a:p>
            <a:r>
              <a:rPr lang="en-IE" dirty="0"/>
              <a:t>Replication + quorum answers Q1 and Q2 very well. But Q3 — the conflict question — requires a completely different mechanism. No amount of tuning W and R resolves this, because the race condition happens </a:t>
            </a:r>
            <a:r>
              <a:rPr lang="en-IE" b="1" dirty="0"/>
              <a:t>before</a:t>
            </a:r>
            <a:r>
              <a:rPr lang="en-IE" dirty="0"/>
              <a:t> W and R are even consulted.</a:t>
            </a:r>
            <a:endParaRPr lang="en-US" dirty="0"/>
          </a:p>
        </p:txBody>
      </p:sp>
      <p:pic>
        <p:nvPicPr>
          <p:cNvPr id="3" name="Picture 2">
            <a:extLst>
              <a:ext uri="{FF2B5EF4-FFF2-40B4-BE49-F238E27FC236}">
                <a16:creationId xmlns:a16="http://schemas.microsoft.com/office/drawing/2014/main" id="{82F4AEBF-7F91-66ED-3F0F-A906138309B1}"/>
              </a:ext>
            </a:extLst>
          </p:cNvPr>
          <p:cNvPicPr>
            <a:picLocks noChangeAspect="1"/>
          </p:cNvPicPr>
          <p:nvPr/>
        </p:nvPicPr>
        <p:blipFill>
          <a:blip r:embed="rId2"/>
          <a:stretch>
            <a:fillRect/>
          </a:stretch>
        </p:blipFill>
        <p:spPr>
          <a:xfrm>
            <a:off x="725444" y="1143343"/>
            <a:ext cx="4798026" cy="3348330"/>
          </a:xfrm>
          <a:prstGeom prst="rect">
            <a:avLst/>
          </a:prstGeom>
        </p:spPr>
      </p:pic>
      <p:pic>
        <p:nvPicPr>
          <p:cNvPr id="10" name="Picture 9">
            <a:extLst>
              <a:ext uri="{FF2B5EF4-FFF2-40B4-BE49-F238E27FC236}">
                <a16:creationId xmlns:a16="http://schemas.microsoft.com/office/drawing/2014/main" id="{ADC6A369-16DE-3BE9-D310-7B78B0D0989A}"/>
              </a:ext>
            </a:extLst>
          </p:cNvPr>
          <p:cNvPicPr>
            <a:picLocks noChangeAspect="1"/>
          </p:cNvPicPr>
          <p:nvPr/>
        </p:nvPicPr>
        <p:blipFill>
          <a:blip r:embed="rId3"/>
          <a:stretch>
            <a:fillRect/>
          </a:stretch>
        </p:blipFill>
        <p:spPr>
          <a:xfrm>
            <a:off x="5523470" y="3014018"/>
            <a:ext cx="6505359" cy="1892628"/>
          </a:xfrm>
          <a:prstGeom prst="rect">
            <a:avLst/>
          </a:prstGeom>
        </p:spPr>
      </p:pic>
      <p:sp>
        <p:nvSpPr>
          <p:cNvPr id="11" name="TextBox 10">
            <a:extLst>
              <a:ext uri="{FF2B5EF4-FFF2-40B4-BE49-F238E27FC236}">
                <a16:creationId xmlns:a16="http://schemas.microsoft.com/office/drawing/2014/main" id="{3E4FD392-78C9-C443-614E-63362F6B54EB}"/>
              </a:ext>
            </a:extLst>
          </p:cNvPr>
          <p:cNvSpPr txBox="1"/>
          <p:nvPr/>
        </p:nvSpPr>
        <p:spPr>
          <a:xfrm>
            <a:off x="5797005" y="5022995"/>
            <a:ext cx="5531672" cy="1477328"/>
          </a:xfrm>
          <a:prstGeom prst="rect">
            <a:avLst/>
          </a:prstGeom>
          <a:noFill/>
        </p:spPr>
        <p:txBody>
          <a:bodyPr wrap="square" rtlCol="0">
            <a:spAutoFit/>
          </a:bodyPr>
          <a:lstStyle/>
          <a:p>
            <a:r>
              <a:rPr lang="en-IE" i="1" dirty="0"/>
              <a:t>Example: -- Cassandra Lightweight </a:t>
            </a:r>
            <a:r>
              <a:rPr lang="en-IE" i="1" dirty="0" err="1"/>
              <a:t>Transactio</a:t>
            </a:r>
            <a:r>
              <a:rPr lang="en-IE" i="1" dirty="0"/>
              <a:t>:</a:t>
            </a:r>
          </a:p>
          <a:p>
            <a:r>
              <a:rPr lang="en-IE" i="1"/>
              <a:t>(</a:t>
            </a:r>
            <a:r>
              <a:rPr lang="en-IE" i="1" dirty="0"/>
              <a:t>Paxos)</a:t>
            </a:r>
            <a:r>
              <a:rPr lang="en-IE" dirty="0"/>
              <a:t> INSERT INTO seats (id, </a:t>
            </a:r>
            <a:r>
              <a:rPr lang="en-IE" dirty="0" err="1"/>
              <a:t>booked_by</a:t>
            </a:r>
            <a:r>
              <a:rPr lang="en-IE" dirty="0"/>
              <a:t>) VALUES (99, 'Alice') </a:t>
            </a:r>
            <a:r>
              <a:rPr lang="en-IE" dirty="0">
                <a:solidFill>
                  <a:srgbClr val="FF0000"/>
                </a:solidFill>
              </a:rPr>
              <a:t>IF NOT EXISTS</a:t>
            </a:r>
            <a:r>
              <a:rPr lang="en-IE" dirty="0"/>
              <a:t>; </a:t>
            </a:r>
          </a:p>
          <a:p>
            <a:r>
              <a:rPr lang="en-IE" i="1" dirty="0"/>
              <a:t>-- Returns: applied=true (Alice wins)</a:t>
            </a:r>
            <a:r>
              <a:rPr lang="en-IE" dirty="0"/>
              <a:t> </a:t>
            </a:r>
            <a:r>
              <a:rPr lang="en-IE" i="1" dirty="0"/>
              <a:t>-- Bob's identical query returns: applied=false</a:t>
            </a:r>
            <a:endParaRPr lang="en-US" dirty="0"/>
          </a:p>
        </p:txBody>
      </p:sp>
      <p:sp>
        <p:nvSpPr>
          <p:cNvPr id="12" name="TextBox 11">
            <a:extLst>
              <a:ext uri="{FF2B5EF4-FFF2-40B4-BE49-F238E27FC236}">
                <a16:creationId xmlns:a16="http://schemas.microsoft.com/office/drawing/2014/main" id="{596BF271-50DA-4251-2268-DED7FAC5B9E3}"/>
              </a:ext>
            </a:extLst>
          </p:cNvPr>
          <p:cNvSpPr txBox="1"/>
          <p:nvPr/>
        </p:nvSpPr>
        <p:spPr>
          <a:xfrm>
            <a:off x="1072056" y="4718194"/>
            <a:ext cx="3584027" cy="1200329"/>
          </a:xfrm>
          <a:prstGeom prst="rect">
            <a:avLst/>
          </a:prstGeom>
          <a:noFill/>
        </p:spPr>
        <p:txBody>
          <a:bodyPr wrap="square" rtlCol="0">
            <a:spAutoFit/>
          </a:bodyPr>
          <a:lstStyle/>
          <a:p>
            <a:r>
              <a:rPr lang="en-US" b="1" dirty="0"/>
              <a:t>Replication + Quorum </a:t>
            </a:r>
            <a:r>
              <a:rPr lang="en-US" b="1" dirty="0">
                <a:solidFill>
                  <a:srgbClr val="FF0000"/>
                </a:solidFill>
              </a:rPr>
              <a:t>avoid DATA LOST </a:t>
            </a:r>
            <a:r>
              <a:rPr lang="en-US" b="1" dirty="0"/>
              <a:t>in case the node performing the write goes down and </a:t>
            </a:r>
            <a:r>
              <a:rPr lang="en-US" b="1" dirty="0">
                <a:solidFill>
                  <a:srgbClr val="FF0000"/>
                </a:solidFill>
              </a:rPr>
              <a:t>prevent STALE READS</a:t>
            </a:r>
            <a:r>
              <a:rPr lang="en-US" b="1" dirty="0"/>
              <a:t>.</a:t>
            </a:r>
            <a:endParaRPr lang="en-US" dirty="0"/>
          </a:p>
        </p:txBody>
      </p:sp>
    </p:spTree>
    <p:extLst>
      <p:ext uri="{BB962C8B-B14F-4D97-AF65-F5344CB8AC3E}">
        <p14:creationId xmlns:p14="http://schemas.microsoft.com/office/powerpoint/2010/main" val="38413090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371</TotalTime>
  <Words>1327</Words>
  <Application>Microsoft Macintosh PowerPoint</Application>
  <PresentationFormat>Widescreen</PresentationFormat>
  <Paragraphs>89</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Arial</vt:lpstr>
      <vt:lpstr>Wingdings</vt:lpstr>
      <vt:lpstr>Office Theme</vt:lpstr>
      <vt:lpstr>Database Replication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Daniela Ventura</dc:creator>
  <cp:lastModifiedBy>Daniela Ventura</cp:lastModifiedBy>
  <cp:revision>128</cp:revision>
  <dcterms:created xsi:type="dcterms:W3CDTF">2025-03-24T09:57:39Z</dcterms:created>
  <dcterms:modified xsi:type="dcterms:W3CDTF">2026-04-25T14:58:10Z</dcterms:modified>
</cp:coreProperties>
</file>