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7" r:id="rId3"/>
    <p:sldId id="268" r:id="rId4"/>
    <p:sldId id="270" r:id="rId5"/>
    <p:sldId id="273" r:id="rId6"/>
    <p:sldId id="274" r:id="rId7"/>
    <p:sldId id="275" r:id="rId8"/>
    <p:sldId id="276" r:id="rId9"/>
    <p:sldId id="269" r:id="rId10"/>
    <p:sldId id="271" r:id="rId11"/>
    <p:sldId id="280" r:id="rId12"/>
    <p:sldId id="272" r:id="rId13"/>
    <p:sldId id="277" r:id="rId14"/>
    <p:sldId id="278" r:id="rId15"/>
    <p:sldId id="279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50"/>
    <p:restoredTop sz="94682"/>
  </p:normalViewPr>
  <p:slideViewPr>
    <p:cSldViewPr snapToGrid="0">
      <p:cViewPr varScale="1">
        <p:scale>
          <a:sx n="127" d="100"/>
          <a:sy n="127" d="100"/>
        </p:scale>
        <p:origin x="560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434BB9-A000-A2C1-F74B-E79FA84CA3B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B39BFB8-4434-8E00-6EBE-865107C056B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B860B4-906B-35AF-A802-768E7E333B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4FD953-4959-7B43-A1AC-A3D86343C92A}" type="datetimeFigureOut">
              <a:rPr lang="en-US" smtClean="0"/>
              <a:t>9/5/26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E7509A-0A26-DE56-01CD-C048E7FF6D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135213-7351-29F4-4D50-3B5A6E12FD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0C89D-59DA-E848-81D8-4C142C40C4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61493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C08DBA-B08F-AC4B-9BEC-4876AC774E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05B892-D8B2-50F3-D747-04044138D3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D088CF-A747-0AED-E4DD-21C308178A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4FD953-4959-7B43-A1AC-A3D86343C92A}" type="datetimeFigureOut">
              <a:rPr lang="en-US" smtClean="0"/>
              <a:t>9/5/26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94AAA9-9359-C429-A505-DA835B7CD4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D0FFD4-0FAE-EDE0-BBAA-25E7F76C3B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0C89D-59DA-E848-81D8-4C142C40C4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78647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E7CCE0-B186-0328-5AB7-9A9C8D9C91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F2E095-B222-6EAB-80E9-57E84E59F3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1A513A-ED5B-0B43-B370-4977372B0B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4FD953-4959-7B43-A1AC-A3D86343C92A}" type="datetimeFigureOut">
              <a:rPr lang="en-US" smtClean="0"/>
              <a:t>9/5/26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2E1174-8606-84E1-2A3F-195AF7473A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313784-29A8-1F21-9D4A-0101EAA46E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0C89D-59DA-E848-81D8-4C142C40C4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59170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A21B4C-FC84-3CDB-6551-F26FD60E88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F91970-A464-833F-D986-6B6F1C4FB95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F6355D8-4890-08F8-DCAF-B1DEFA2F44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6350AFC-A8CC-9A51-58A0-CDFEE4E9C3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4FD953-4959-7B43-A1AC-A3D86343C92A}" type="datetimeFigureOut">
              <a:rPr lang="en-US" smtClean="0"/>
              <a:t>9/5/26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9552346-7B2F-D346-E3FD-4FF5BAF426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AA4407B-3AC6-0106-80F7-925E6CB614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0C89D-59DA-E848-81D8-4C142C40C4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68509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592ED5-CA8C-8C6E-924A-70280FE737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C25D95-850B-99A9-0DD4-34F6DC2020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0949733-090F-16F6-64D6-185841B887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0D8E1CE-C52C-1ACE-996D-80194DABD45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ABBAD7D-CACF-EEA5-28DC-A7FD566BDED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80CD9FB-C99E-56E4-88E8-C7ED976505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4FD953-4959-7B43-A1AC-A3D86343C92A}" type="datetimeFigureOut">
              <a:rPr lang="en-US" smtClean="0"/>
              <a:t>9/5/26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2CC9E26-A34B-6210-6E51-E764280AE6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7D6C3FA-C804-00B1-9616-E5EC646155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0C89D-59DA-E848-81D8-4C142C40C4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29532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99BFC4-8173-82B5-ECEE-FBB017EFD2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1F86426-9670-4BAA-354C-C894DCC443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4FD953-4959-7B43-A1AC-A3D86343C92A}" type="datetimeFigureOut">
              <a:rPr lang="en-US" smtClean="0"/>
              <a:t>9/5/26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FAB1E5B-A9EA-62E1-14FE-A706050227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D2997D9-FFDD-3CF3-6090-023DCF472B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0C89D-59DA-E848-81D8-4C142C40C4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69459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1ED7048-2298-E3BE-3501-851D7B81FE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4FD953-4959-7B43-A1AC-A3D86343C92A}" type="datetimeFigureOut">
              <a:rPr lang="en-US" smtClean="0"/>
              <a:t>9/5/26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4BA07A3-36B6-30BD-8CC2-00744E4510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D8D3C2-E18D-2C90-416D-5C8AFD1C77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0C89D-59DA-E848-81D8-4C142C40C4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54964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D3FAB-D4EF-F0DA-50E0-47DDCC7AF8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DB330B-0785-0196-38BD-6CEB4EF76D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C399234-137D-FA95-3CFD-B697092237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BE8314A-167A-46DA-59C5-7F5C2D2F50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4FD953-4959-7B43-A1AC-A3D86343C92A}" type="datetimeFigureOut">
              <a:rPr lang="en-US" smtClean="0"/>
              <a:t>9/5/26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4150A79-8B9B-B63C-9658-70830401DD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326062-5647-8317-7A00-AA2586E573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0C89D-59DA-E848-81D8-4C142C40C4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82634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8E20C3-D431-2812-03D0-2CD0E41448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6281321-5323-BEC9-E6F0-DA7DB61DE99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8A7EA8D-5748-78B4-F9BA-6481E19C270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EB236D1-16BB-4C84-4B71-6A5379D642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4FD953-4959-7B43-A1AC-A3D86343C92A}" type="datetimeFigureOut">
              <a:rPr lang="en-US" smtClean="0"/>
              <a:t>9/5/26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BA3109-0534-DA86-1539-F223F0CCEE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D69A1B-40C2-3393-F927-A6E309BA8E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0C89D-59DA-E848-81D8-4C142C40C4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35704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14DC28-2D04-AAB7-69C7-1E21D13FF2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D5EA83B-41D3-D8B7-F6B1-ECEB20EDEF1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27FDE1-6F19-C5B1-481B-BF3541763A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4FD953-4959-7B43-A1AC-A3D86343C92A}" type="datetimeFigureOut">
              <a:rPr lang="en-US" smtClean="0"/>
              <a:t>9/5/26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0B951E-E40C-2AA2-0453-454E68E029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09CDA8-AD1F-B244-44D9-98EA11DF4E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0C89D-59DA-E848-81D8-4C142C40C4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51113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5FBA037-42A1-9DC8-DFA1-4519F934795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D843167-DA09-9424-3AF4-42008268EBF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ABDCA2-F98E-81B9-8B5D-0DA5B75F86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4FD953-4959-7B43-A1AC-A3D86343C92A}" type="datetimeFigureOut">
              <a:rPr lang="en-US" smtClean="0"/>
              <a:t>9/5/26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45C989-6C0D-40D2-C0D2-46D206B8F2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BF9B8F-D19E-6DA6-FD9C-566003F757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0C89D-59DA-E848-81D8-4C142C40C4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19579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0308896-4BA3-B3C7-3E37-6DF757238C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4E5E54-493D-EFA8-1883-A59CBB68A3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0340F6-7A1B-3FEF-6620-1E6319BC97F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D4FD953-4959-7B43-A1AC-A3D86343C92A}" type="datetimeFigureOut">
              <a:rPr lang="en-US" smtClean="0"/>
              <a:t>9/5/26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294B6D-C736-57D7-6E64-BC470E0659F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2996A8-1C76-42CB-4B7D-481B11AF4BD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190C89D-59DA-E848-81D8-4C142C40C4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19482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youtube.com/watch?v=jLEp1XI_L6Q&amp;t=23s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7A3671-CCF9-740D-4F35-80BB17DB280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Database Replication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7F6CB4D-CEBC-3E08-59A2-7ABA9CE99325}"/>
              </a:ext>
            </a:extLst>
          </p:cNvPr>
          <p:cNvSpPr txBox="1"/>
          <p:nvPr/>
        </p:nvSpPr>
        <p:spPr>
          <a:xfrm>
            <a:off x="2965143" y="5854262"/>
            <a:ext cx="68852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Reference: </a:t>
            </a:r>
            <a:r>
              <a:rPr lang="en-US" dirty="0">
                <a:hlinkClick r:id="rId2"/>
              </a:rPr>
              <a:t>https://www.youtube.com/watch?v=jLEp1XI_L6Q&amp;t=23s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0020099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EBD332D-9E2A-4927-CED2-ADFDEB15BF02}"/>
              </a:ext>
            </a:extLst>
          </p:cNvPr>
          <p:cNvSpPr txBox="1"/>
          <p:nvPr/>
        </p:nvSpPr>
        <p:spPr>
          <a:xfrm>
            <a:off x="865434" y="567558"/>
            <a:ext cx="1110585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Database Replication </a:t>
            </a:r>
            <a:r>
              <a:rPr lang="en-US" dirty="0"/>
              <a:t>is used to guarantee data </a:t>
            </a:r>
            <a:r>
              <a:rPr lang="en-US" b="1" dirty="0"/>
              <a:t>AVAILABILITY =&gt; ensure the system remain responsive in case of high load or DB failures.</a:t>
            </a:r>
            <a:endParaRPr lang="en-US" dirty="0"/>
          </a:p>
          <a:p>
            <a:endParaRPr lang="en-US" dirty="0"/>
          </a:p>
          <a:p>
            <a:r>
              <a:rPr lang="en-US" dirty="0"/>
              <a:t>DB replication consists in creating multiple copies (called “REPLICAS”) of the same DB running on different servers (and machines).</a:t>
            </a:r>
          </a:p>
          <a:p>
            <a:endParaRPr lang="en-US" dirty="0"/>
          </a:p>
          <a:p>
            <a:r>
              <a:rPr lang="en-US" dirty="0"/>
              <a:t>Pros: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It guarantee </a:t>
            </a:r>
            <a:r>
              <a:rPr lang="en-US" dirty="0">
                <a:solidFill>
                  <a:srgbClr val="FF0000"/>
                </a:solidFill>
              </a:rPr>
              <a:t>High Availability</a:t>
            </a:r>
            <a:r>
              <a:rPr lang="en-US" dirty="0"/>
              <a:t> because if one replica goes down, the system can switch to another replica providing uninterrupted services to clients.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It </a:t>
            </a:r>
            <a:r>
              <a:rPr lang="en-US" dirty="0">
                <a:solidFill>
                  <a:srgbClr val="FF0000"/>
                </a:solidFill>
              </a:rPr>
              <a:t>scales read capacity</a:t>
            </a:r>
            <a:r>
              <a:rPr lang="en-US" dirty="0"/>
              <a:t> because now we have multiple databases where you can read data from</a:t>
            </a:r>
          </a:p>
        </p:txBody>
      </p:sp>
      <p:pic>
        <p:nvPicPr>
          <p:cNvPr id="3" name="Picture 2" descr="A diagram of a computer server&#10;&#10;AI-generated content may be incorrect.">
            <a:extLst>
              <a:ext uri="{FF2B5EF4-FFF2-40B4-BE49-F238E27FC236}">
                <a16:creationId xmlns:a16="http://schemas.microsoft.com/office/drawing/2014/main" id="{84FA4E8F-4F07-59AB-A763-A7BD8B9B03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75681" y="3580293"/>
            <a:ext cx="5401581" cy="28623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89185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93D8D51-BE2A-9500-C173-F7C20DF0D3BA}"/>
              </a:ext>
            </a:extLst>
          </p:cNvPr>
          <p:cNvSpPr txBox="1"/>
          <p:nvPr/>
        </p:nvSpPr>
        <p:spPr>
          <a:xfrm>
            <a:off x="865434" y="567558"/>
            <a:ext cx="111058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Leader-Follower Replication</a:t>
            </a:r>
            <a:endParaRPr lang="en-US" dirty="0"/>
          </a:p>
        </p:txBody>
      </p:sp>
      <p:pic>
        <p:nvPicPr>
          <p:cNvPr id="6" name="Picture 5" descr="A diagram of a diagram of a leader&#10;&#10;AI-generated content may be incorrect.">
            <a:extLst>
              <a:ext uri="{FF2B5EF4-FFF2-40B4-BE49-F238E27FC236}">
                <a16:creationId xmlns:a16="http://schemas.microsoft.com/office/drawing/2014/main" id="{BE69DA41-5FB8-6056-7538-625EBE309C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1624" y="1275237"/>
            <a:ext cx="7772400" cy="280624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4F242C3-F7BB-3E82-6489-22FA2459532F}"/>
              </a:ext>
            </a:extLst>
          </p:cNvPr>
          <p:cNvSpPr txBox="1"/>
          <p:nvPr/>
        </p:nvSpPr>
        <p:spPr>
          <a:xfrm>
            <a:off x="725214" y="4666593"/>
            <a:ext cx="1110585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Write</a:t>
            </a:r>
            <a:r>
              <a:rPr lang="en-US" sz="1600" dirty="0"/>
              <a:t> operations are done only towards the Leader =&gt; it’s then the Leader responsible to propagate the changes to the followers</a:t>
            </a:r>
          </a:p>
          <a:p>
            <a:r>
              <a:rPr lang="en-US" sz="1600" b="1" dirty="0"/>
              <a:t>Read</a:t>
            </a:r>
            <a:r>
              <a:rPr lang="en-US" sz="1600" dirty="0"/>
              <a:t> operations are spread across both Leader and Followers</a:t>
            </a:r>
          </a:p>
        </p:txBody>
      </p:sp>
    </p:spTree>
    <p:extLst>
      <p:ext uri="{BB962C8B-B14F-4D97-AF65-F5344CB8AC3E}">
        <p14:creationId xmlns:p14="http://schemas.microsoft.com/office/powerpoint/2010/main" val="23068494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855F38-05EA-BD33-B15D-B9A1471E45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D863147-F3E3-4B4E-6A5C-AC7EEE7D6E2F}"/>
              </a:ext>
            </a:extLst>
          </p:cNvPr>
          <p:cNvSpPr txBox="1"/>
          <p:nvPr/>
        </p:nvSpPr>
        <p:spPr>
          <a:xfrm>
            <a:off x="865434" y="567558"/>
            <a:ext cx="111058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Leader-Leader Replication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61A5711-DC9A-E705-FBEC-683295BEDF67}"/>
              </a:ext>
            </a:extLst>
          </p:cNvPr>
          <p:cNvSpPr txBox="1"/>
          <p:nvPr/>
        </p:nvSpPr>
        <p:spPr>
          <a:xfrm>
            <a:off x="704193" y="3773214"/>
            <a:ext cx="5568330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Write</a:t>
            </a:r>
            <a:r>
              <a:rPr lang="en-US" sz="1600" dirty="0"/>
              <a:t> and </a:t>
            </a:r>
            <a:r>
              <a:rPr lang="en-US" sz="1600" b="1" dirty="0"/>
              <a:t>Read</a:t>
            </a:r>
            <a:r>
              <a:rPr lang="en-US" sz="1600" dirty="0"/>
              <a:t> operations are can be done towards any of the replicas.</a:t>
            </a:r>
          </a:p>
          <a:p>
            <a:endParaRPr lang="en-US" sz="1600" dirty="0"/>
          </a:p>
          <a:p>
            <a:r>
              <a:rPr lang="en-US" sz="1600" dirty="0"/>
              <a:t>A Problem specifically for this approach (which is not in the master-slave approach):</a:t>
            </a:r>
          </a:p>
          <a:p>
            <a:r>
              <a:rPr lang="en-US" sz="1600" dirty="0"/>
              <a:t>There might be </a:t>
            </a:r>
            <a:r>
              <a:rPr lang="en-US" sz="1600" b="1" dirty="0">
                <a:solidFill>
                  <a:srgbClr val="FF0000"/>
                </a:solidFill>
              </a:rPr>
              <a:t>conflicts</a:t>
            </a:r>
            <a:r>
              <a:rPr lang="en-US" sz="1600" dirty="0"/>
              <a:t> when writing </a:t>
            </a:r>
            <a:r>
              <a:rPr lang="en-IE" sz="1600" b="1" u="sng" dirty="0"/>
              <a:t>two</a:t>
            </a:r>
            <a:r>
              <a:rPr lang="en-IE" sz="1600" u="sng" dirty="0"/>
              <a:t> clients </a:t>
            </a:r>
            <a:r>
              <a:rPr lang="en-IE" sz="1600" b="1" u="sng" dirty="0"/>
              <a:t>write to the same record</a:t>
            </a:r>
            <a:r>
              <a:rPr lang="en-IE" sz="1600" u="sng" dirty="0"/>
              <a:t> </a:t>
            </a:r>
            <a:r>
              <a:rPr lang="en-IE" sz="1600" b="1" u="sng" dirty="0"/>
              <a:t>on different nodes </a:t>
            </a:r>
            <a:r>
              <a:rPr lang="en-IE" sz="1600" u="sng" dirty="0"/>
              <a:t>simultaneously</a:t>
            </a:r>
            <a:r>
              <a:rPr lang="en-US" sz="1600" dirty="0"/>
              <a:t> (for example a </a:t>
            </a:r>
            <a:r>
              <a:rPr lang="en-US" sz="1600" b="1" dirty="0"/>
              <a:t>user</a:t>
            </a:r>
            <a:r>
              <a:rPr lang="en-US" sz="1600" dirty="0"/>
              <a:t> update a record in DB1, while another </a:t>
            </a:r>
            <a:r>
              <a:rPr lang="en-US" sz="1600" b="1" dirty="0"/>
              <a:t>user</a:t>
            </a:r>
            <a:r>
              <a:rPr lang="en-US" sz="1600" dirty="0"/>
              <a:t> update the same record in DB2) =&gt; we need to handle conflict resolution mechanisms =&gt; There are several options ==</a:t>
            </a:r>
            <a:r>
              <a:rPr lang="en-US" sz="1600" dirty="0">
                <a:sym typeface="Wingdings" pitchFamily="2" charset="2"/>
              </a:rPr>
              <a:t>&gt;</a:t>
            </a:r>
            <a:endParaRPr lang="en-US" sz="1600" dirty="0"/>
          </a:p>
        </p:txBody>
      </p:sp>
      <p:pic>
        <p:nvPicPr>
          <p:cNvPr id="3" name="Picture 2" descr="A diagram of a diagram of a leader&#10;&#10;AI-generated content may be incorrect.">
            <a:extLst>
              <a:ext uri="{FF2B5EF4-FFF2-40B4-BE49-F238E27FC236}">
                <a16:creationId xmlns:a16="http://schemas.microsoft.com/office/drawing/2014/main" id="{8795B232-D151-AA1F-76B4-0333A40A8F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351" y="1038300"/>
            <a:ext cx="5754013" cy="220102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6FEE471-D3A7-DFD6-9008-440E6E27B6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3354" y="3340734"/>
            <a:ext cx="5568330" cy="317328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A332177-38B3-A7C8-8F99-CF89511EBCC9}"/>
              </a:ext>
            </a:extLst>
          </p:cNvPr>
          <p:cNvSpPr txBox="1"/>
          <p:nvPr/>
        </p:nvSpPr>
        <p:spPr>
          <a:xfrm>
            <a:off x="7029266" y="343982"/>
            <a:ext cx="4942018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b="1" dirty="0"/>
              <a:t>NB: Conflicts </a:t>
            </a:r>
            <a:r>
              <a:rPr lang="en-IE" b="1" u="sng" dirty="0"/>
              <a:t>on Replication </a:t>
            </a:r>
            <a:r>
              <a:rPr lang="en-IE" b="1" dirty="0"/>
              <a:t>and “Conflicts” on </a:t>
            </a:r>
            <a:r>
              <a:rPr lang="en-IE" b="1" u="sng" dirty="0"/>
              <a:t>clients writing the same row </a:t>
            </a:r>
            <a:r>
              <a:rPr lang="en-IE" b="1" dirty="0"/>
              <a:t>when using a </a:t>
            </a:r>
            <a:r>
              <a:rPr lang="en-IE" b="1" u="sng" dirty="0">
                <a:solidFill>
                  <a:srgbClr val="FF0000"/>
                </a:solidFill>
              </a:rPr>
              <a:t>Single-master</a:t>
            </a:r>
            <a:r>
              <a:rPr lang="en-IE" b="1" u="sng" dirty="0"/>
              <a:t> with </a:t>
            </a:r>
            <a:r>
              <a:rPr lang="en-IE" b="1" u="sng" dirty="0">
                <a:solidFill>
                  <a:srgbClr val="FF0000"/>
                </a:solidFill>
              </a:rPr>
              <a:t>optimistic locking,</a:t>
            </a:r>
            <a:r>
              <a:rPr lang="en-IE" b="1" dirty="0">
                <a:solidFill>
                  <a:srgbClr val="FF0000"/>
                </a:solidFill>
              </a:rPr>
              <a:t> </a:t>
            </a:r>
            <a:r>
              <a:rPr lang="en-IE" b="1" dirty="0"/>
              <a:t>are two DIFFERENT things </a:t>
            </a:r>
            <a:r>
              <a:rPr lang="en-IE" b="1" dirty="0">
                <a:solidFill>
                  <a:srgbClr val="FF0000"/>
                </a:solidFill>
              </a:rPr>
              <a:t>=&gt;</a:t>
            </a:r>
            <a:r>
              <a:rPr lang="en-IE" b="1" dirty="0"/>
              <a:t> You have to handle </a:t>
            </a:r>
            <a:r>
              <a:rPr lang="en-IE" b="1" u="sng" dirty="0">
                <a:solidFill>
                  <a:srgbClr val="FF0000"/>
                </a:solidFill>
              </a:rPr>
              <a:t>application-level conflicts</a:t>
            </a:r>
            <a:r>
              <a:rPr lang="en-IE" dirty="0"/>
              <a:t> =&gt; Even with one primary, </a:t>
            </a:r>
            <a:r>
              <a:rPr lang="en-IE" u="sng" dirty="0"/>
              <a:t>multiple app instances </a:t>
            </a:r>
            <a:r>
              <a:rPr lang="en-IE" dirty="0"/>
              <a:t>can read-then-write the same row concurrently. </a:t>
            </a:r>
            <a:r>
              <a:rPr lang="en-IE" dirty="0">
                <a:solidFill>
                  <a:srgbClr val="FF0000"/>
                </a:solidFill>
              </a:rPr>
              <a:t>This isn't a replication conflict but a </a:t>
            </a:r>
            <a:r>
              <a:rPr lang="en-IE" b="1" u="sng" dirty="0">
                <a:solidFill>
                  <a:srgbClr val="FF0000"/>
                </a:solidFill>
              </a:rPr>
              <a:t>concurrency</a:t>
            </a:r>
            <a:r>
              <a:rPr lang="en-IE" dirty="0">
                <a:solidFill>
                  <a:srgbClr val="FF0000"/>
                </a:solidFill>
              </a:rPr>
              <a:t> conflict </a:t>
            </a:r>
            <a:r>
              <a:rPr lang="en-IE" dirty="0"/>
              <a:t>— handled with </a:t>
            </a:r>
            <a:r>
              <a:rPr lang="en-IE" b="1" dirty="0"/>
              <a:t>versioning</a:t>
            </a:r>
            <a:r>
              <a:rPr lang="en-IE" dirty="0"/>
              <a:t> or </a:t>
            </a:r>
            <a:r>
              <a:rPr lang="en-IE" b="1" dirty="0"/>
              <a:t>SELECT FOR UPDATE</a:t>
            </a:r>
            <a:r>
              <a:rPr lang="en-IE" dirty="0"/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9230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088D57-2FF0-77C3-97A6-A44E6C0FE3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FE35FD0-68FD-3538-D74F-DDFABDD88164}"/>
              </a:ext>
            </a:extLst>
          </p:cNvPr>
          <p:cNvSpPr txBox="1"/>
          <p:nvPr/>
        </p:nvSpPr>
        <p:spPr>
          <a:xfrm>
            <a:off x="543075" y="304800"/>
            <a:ext cx="111058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Conflict Resolution Strategies (node Master vs node Master) during Replication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8C8AF67-4D75-6D90-83D8-65365A8F3259}"/>
              </a:ext>
            </a:extLst>
          </p:cNvPr>
          <p:cNvSpPr txBox="1"/>
          <p:nvPr/>
        </p:nvSpPr>
        <p:spPr>
          <a:xfrm>
            <a:off x="420415" y="882868"/>
            <a:ext cx="1151933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b="1" dirty="0"/>
              <a:t>1. Last Write Wins (LWW)</a:t>
            </a:r>
            <a:r>
              <a:rPr lang="en-IE" dirty="0"/>
              <a:t> The write with the </a:t>
            </a:r>
            <a:r>
              <a:rPr lang="en-IE" dirty="0">
                <a:solidFill>
                  <a:srgbClr val="FF0000"/>
                </a:solidFill>
              </a:rPr>
              <a:t>latest timestamp survives</a:t>
            </a:r>
            <a:r>
              <a:rPr lang="en-IE" dirty="0"/>
              <a:t>. Simple to implement, but clocks across nodes are never perfectly in sync (clock skew), so the "latest" timestamp can be wrong. Cassandra uses this by default.</a:t>
            </a:r>
          </a:p>
          <a:p>
            <a:r>
              <a:rPr lang="en-IE" b="1" dirty="0"/>
              <a:t>Risk: silently discards writes</a:t>
            </a:r>
            <a:r>
              <a:rPr lang="en-IE" dirty="0"/>
              <a:t>. Good for low-stakes data (</a:t>
            </a:r>
            <a:r>
              <a:rPr lang="en-IE" u="sng" dirty="0"/>
              <a:t>cache, metrics</a:t>
            </a:r>
            <a:r>
              <a:rPr lang="en-IE" dirty="0"/>
              <a:t>), </a:t>
            </a:r>
            <a:r>
              <a:rPr lang="en-IE" u="sng" dirty="0"/>
              <a:t>bad for financial data</a:t>
            </a:r>
            <a:r>
              <a:rPr lang="en-IE" dirty="0"/>
              <a:t>.</a:t>
            </a:r>
          </a:p>
          <a:p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1BF0033-196A-6965-E72E-556C0F5060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6845" y="2281366"/>
            <a:ext cx="7772400" cy="41317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10702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988C27-A42F-6CEB-1535-FB84DE3232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438DA32-D3E5-198F-55D0-26DC73D7816E}"/>
              </a:ext>
            </a:extLst>
          </p:cNvPr>
          <p:cNvSpPr txBox="1"/>
          <p:nvPr/>
        </p:nvSpPr>
        <p:spPr>
          <a:xfrm>
            <a:off x="543075" y="304800"/>
            <a:ext cx="111058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Conflict Resolution Strategies (node Master vs node Master) during Replication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05D1A15-198E-E280-E1C3-BED2A79836EE}"/>
              </a:ext>
            </a:extLst>
          </p:cNvPr>
          <p:cNvSpPr txBox="1"/>
          <p:nvPr/>
        </p:nvSpPr>
        <p:spPr>
          <a:xfrm>
            <a:off x="420415" y="882868"/>
            <a:ext cx="11519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b="1" dirty="0"/>
              <a:t>2. First Write Wins</a:t>
            </a:r>
            <a:r>
              <a:rPr lang="en-IE" dirty="0"/>
              <a:t> The first write to reach </a:t>
            </a:r>
            <a:r>
              <a:rPr lang="en-IE" dirty="0">
                <a:solidFill>
                  <a:srgbClr val="FF0000"/>
                </a:solidFill>
              </a:rPr>
              <a:t>consensus</a:t>
            </a:r>
            <a:r>
              <a:rPr lang="en-IE" dirty="0"/>
              <a:t> wins, subsequent conflicting writes are </a:t>
            </a:r>
            <a:r>
              <a:rPr lang="en-IE" dirty="0">
                <a:solidFill>
                  <a:srgbClr val="FF0000"/>
                </a:solidFill>
              </a:rPr>
              <a:t>rejected</a:t>
            </a:r>
            <a:r>
              <a:rPr lang="en-IE" dirty="0"/>
              <a:t>. Used in some </a:t>
            </a:r>
            <a:r>
              <a:rPr lang="en-IE" dirty="0">
                <a:solidFill>
                  <a:srgbClr val="FF0000"/>
                </a:solidFill>
              </a:rPr>
              <a:t>strongly consistent systems</a:t>
            </a:r>
            <a:r>
              <a:rPr lang="en-IE" dirty="0"/>
              <a:t>.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63DFD64-9DE4-3E27-C46A-D936DE05C5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3941" y="2094689"/>
            <a:ext cx="7772400" cy="33094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113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77287F-8375-530A-CF09-F1BBC7E064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3A40A93-C5A9-D819-70EA-3086DA996DC9}"/>
              </a:ext>
            </a:extLst>
          </p:cNvPr>
          <p:cNvSpPr txBox="1"/>
          <p:nvPr/>
        </p:nvSpPr>
        <p:spPr>
          <a:xfrm>
            <a:off x="543075" y="304800"/>
            <a:ext cx="111058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Conflict Resolution Strategies (node Master vs node Master) during Replication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04E7D25-1B48-C901-F6BD-09F9F4717448}"/>
              </a:ext>
            </a:extLst>
          </p:cNvPr>
          <p:cNvSpPr txBox="1"/>
          <p:nvPr/>
        </p:nvSpPr>
        <p:spPr>
          <a:xfrm>
            <a:off x="420415" y="882868"/>
            <a:ext cx="1151933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b="1" dirty="0"/>
              <a:t>3. Merge / CRDT (Conflict-free Replicated Data Types)</a:t>
            </a:r>
            <a:r>
              <a:rPr lang="en-IE" dirty="0"/>
              <a:t> Data structures mathematically designed so that any two versions can always be merged without conflict. Common examples: </a:t>
            </a:r>
            <a:r>
              <a:rPr lang="en-IE" u="sng" dirty="0"/>
              <a:t>counters</a:t>
            </a:r>
            <a:r>
              <a:rPr lang="en-IE" dirty="0"/>
              <a:t>, </a:t>
            </a:r>
            <a:r>
              <a:rPr lang="en-IE" u="sng" dirty="0"/>
              <a:t>sets with add-only semantics</a:t>
            </a:r>
            <a:r>
              <a:rPr lang="en-IE" dirty="0"/>
              <a:t>. Used in Redis (some data types), Riak, and eventually-consistent systems. </a:t>
            </a:r>
            <a:r>
              <a:rPr lang="en-IE" dirty="0">
                <a:solidFill>
                  <a:srgbClr val="FF0000"/>
                </a:solidFill>
              </a:rPr>
              <a:t>Works well </a:t>
            </a:r>
            <a:r>
              <a:rPr lang="en-IE" u="sng" dirty="0">
                <a:solidFill>
                  <a:srgbClr val="FF0000"/>
                </a:solidFill>
              </a:rPr>
              <a:t>for specific data shapes</a:t>
            </a:r>
            <a:r>
              <a:rPr lang="en-IE" dirty="0">
                <a:solidFill>
                  <a:srgbClr val="FF0000"/>
                </a:solidFill>
              </a:rPr>
              <a:t> but can't be applied universally</a:t>
            </a:r>
            <a:r>
              <a:rPr lang="en-IE" dirty="0"/>
              <a:t>.</a:t>
            </a:r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EB9803D-F925-E85B-DE88-4253359D90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0500" y="2083197"/>
            <a:ext cx="7772400" cy="39394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88011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D80A6A-0105-8F3C-208E-E24423EBE0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46D3182-75D0-BF46-E6B5-55BD519C246F}"/>
              </a:ext>
            </a:extLst>
          </p:cNvPr>
          <p:cNvSpPr txBox="1"/>
          <p:nvPr/>
        </p:nvSpPr>
        <p:spPr>
          <a:xfrm>
            <a:off x="543075" y="304800"/>
            <a:ext cx="111058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Conflict Resolution Strategies (node Master vs node Master) during Replication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CEDD812-DED4-4378-FC8E-416177149912}"/>
              </a:ext>
            </a:extLst>
          </p:cNvPr>
          <p:cNvSpPr txBox="1"/>
          <p:nvPr/>
        </p:nvSpPr>
        <p:spPr>
          <a:xfrm>
            <a:off x="420415" y="882868"/>
            <a:ext cx="1151933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b="1" dirty="0"/>
              <a:t>4. Application-level resolution</a:t>
            </a:r>
            <a:r>
              <a:rPr lang="en-IE" dirty="0"/>
              <a:t> The DB surfaces the conflict to the application, which applies business logic to resolve it. </a:t>
            </a:r>
            <a:r>
              <a:rPr lang="en-IE" dirty="0">
                <a:solidFill>
                  <a:srgbClr val="FF0000"/>
                </a:solidFill>
              </a:rPr>
              <a:t>CouchDB</a:t>
            </a:r>
            <a:r>
              <a:rPr lang="en-IE" dirty="0"/>
              <a:t> does this — </a:t>
            </a:r>
            <a:r>
              <a:rPr lang="en-IE" dirty="0">
                <a:solidFill>
                  <a:srgbClr val="FF0000"/>
                </a:solidFill>
              </a:rPr>
              <a:t>it stores all conflicting revisions and asks an external app/code to pick a winner</a:t>
            </a:r>
            <a:r>
              <a:rPr lang="en-IE" dirty="0"/>
              <a:t>. Most correct approach for complex data, but puts burden on the developer.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B9F1CB3-5F37-D4D5-0F98-D52ECECE6C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2952" y="2198095"/>
            <a:ext cx="7772400" cy="377703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5AC7F30-3C4E-6FB5-0FEE-269362CB2805}"/>
              </a:ext>
            </a:extLst>
          </p:cNvPr>
          <p:cNvSpPr txBox="1"/>
          <p:nvPr/>
        </p:nvSpPr>
        <p:spPr>
          <a:xfrm>
            <a:off x="8842623" y="2101454"/>
            <a:ext cx="309713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“Application-level” resolution, can be done both to handle conflicts on replication or conflicts on clients writing data in a single DB.</a:t>
            </a:r>
          </a:p>
          <a:p>
            <a:endParaRPr lang="en-US" dirty="0"/>
          </a:p>
          <a:p>
            <a:r>
              <a:rPr lang="en-US" dirty="0"/>
              <a:t>In IAM we use a Jenkins job that is triggered every day  that reads if there are conflicts and solve them based on a logic (which can be: merge data, take the latest data, etc.).</a:t>
            </a:r>
          </a:p>
        </p:txBody>
      </p:sp>
    </p:spTree>
    <p:extLst>
      <p:ext uri="{BB962C8B-B14F-4D97-AF65-F5344CB8AC3E}">
        <p14:creationId xmlns:p14="http://schemas.microsoft.com/office/powerpoint/2010/main" val="27314464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0E6E2D-4040-D4E5-D914-D8569160F1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3199A5E-5C8A-BE18-A6CF-37F596536ADA}"/>
              </a:ext>
            </a:extLst>
          </p:cNvPr>
          <p:cNvSpPr txBox="1"/>
          <p:nvPr/>
        </p:nvSpPr>
        <p:spPr>
          <a:xfrm>
            <a:off x="543075" y="326886"/>
            <a:ext cx="111058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Replication can be both Synchronous or Asynchronous</a:t>
            </a:r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8E15E9A-1F26-F044-90F2-596A31048742}"/>
              </a:ext>
            </a:extLst>
          </p:cNvPr>
          <p:cNvSpPr txBox="1"/>
          <p:nvPr/>
        </p:nvSpPr>
        <p:spPr>
          <a:xfrm>
            <a:off x="7381847" y="1106928"/>
            <a:ext cx="3581878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Async Replication</a:t>
            </a:r>
          </a:p>
          <a:p>
            <a:endParaRPr lang="en-US" dirty="0"/>
          </a:p>
          <a:p>
            <a:r>
              <a:rPr lang="en-US" dirty="0"/>
              <a:t>Pros: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Sync is done in background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Faster than Sync replication</a:t>
            </a:r>
          </a:p>
          <a:p>
            <a:endParaRPr lang="en-US" dirty="0"/>
          </a:p>
          <a:p>
            <a:r>
              <a:rPr lang="en-US" dirty="0"/>
              <a:t>Con: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Temporarily Data inconsistency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FEBB3EF-194A-85AE-A545-6FE70998EE6D}"/>
              </a:ext>
            </a:extLst>
          </p:cNvPr>
          <p:cNvSpPr txBox="1"/>
          <p:nvPr/>
        </p:nvSpPr>
        <p:spPr>
          <a:xfrm>
            <a:off x="1228275" y="1110170"/>
            <a:ext cx="4878470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Sync Replication == </a:t>
            </a:r>
            <a:r>
              <a:rPr lang="en-US" b="1" dirty="0">
                <a:solidFill>
                  <a:srgbClr val="FF0000"/>
                </a:solidFill>
              </a:rPr>
              <a:t>QUORUM</a:t>
            </a:r>
          </a:p>
          <a:p>
            <a:endParaRPr lang="en-US" dirty="0"/>
          </a:p>
          <a:p>
            <a:r>
              <a:rPr lang="en-US" dirty="0"/>
              <a:t>Pros: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Changes are committed to both Leaders and Followers before returning back to the client’s request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Guarantee consistency of the data</a:t>
            </a:r>
          </a:p>
          <a:p>
            <a:endParaRPr lang="en-US" dirty="0"/>
          </a:p>
          <a:p>
            <a:r>
              <a:rPr lang="en-US" dirty="0"/>
              <a:t>Con: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Slower than Async =&gt; impact the writes performance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1B79944-D921-126F-255A-6C9C5C03B163}"/>
              </a:ext>
            </a:extLst>
          </p:cNvPr>
          <p:cNvSpPr txBox="1"/>
          <p:nvPr/>
        </p:nvSpPr>
        <p:spPr>
          <a:xfrm>
            <a:off x="4925510" y="5751071"/>
            <a:ext cx="686083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FF0000"/>
                </a:solidFill>
              </a:rPr>
              <a:t>NB^</a:t>
            </a:r>
          </a:p>
          <a:p>
            <a:r>
              <a:rPr lang="en-US" sz="1400" dirty="0">
                <a:solidFill>
                  <a:srgbClr val="FF0000"/>
                </a:solidFill>
              </a:rPr>
              <a:t>Sync means =&gt; the change is </a:t>
            </a:r>
            <a:r>
              <a:rPr lang="en-US" sz="1400" b="1" dirty="0">
                <a:solidFill>
                  <a:srgbClr val="FF0000"/>
                </a:solidFill>
              </a:rPr>
              <a:t>immediately</a:t>
            </a:r>
            <a:r>
              <a:rPr lang="en-US" sz="1400" dirty="0">
                <a:solidFill>
                  <a:srgbClr val="FF0000"/>
                </a:solidFill>
              </a:rPr>
              <a:t> applied by the node in the DB and </a:t>
            </a:r>
            <a:r>
              <a:rPr lang="en-US" sz="1400" b="1" dirty="0">
                <a:solidFill>
                  <a:srgbClr val="FF0000"/>
                </a:solidFill>
              </a:rPr>
              <a:t>saved in the Disk</a:t>
            </a:r>
            <a:r>
              <a:rPr lang="en-US" sz="1400" dirty="0">
                <a:solidFill>
                  <a:srgbClr val="FF0000"/>
                </a:solidFill>
              </a:rPr>
              <a:t>! The master can contact or ALL the replicas or just the number of nodes to </a:t>
            </a:r>
            <a:r>
              <a:rPr lang="en-US" sz="1400" b="1" dirty="0">
                <a:solidFill>
                  <a:srgbClr val="FF0000"/>
                </a:solidFill>
              </a:rPr>
              <a:t>reach the quorum =&gt; depends on how you setup the replication.</a:t>
            </a:r>
            <a:endParaRPr lang="en-US" sz="1400" dirty="0">
              <a:solidFill>
                <a:srgbClr val="FF0000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7357790-BAA6-A0CB-8DAA-4427301E2B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16297" y="3788230"/>
            <a:ext cx="4734346" cy="196284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9D7ADC7-CDAB-1D65-7E2A-243270D797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0620" y="4420313"/>
            <a:ext cx="4716622" cy="20407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07450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AE73EE-BBA0-3C03-3D9C-2322D4A5D5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88615AF-A3E8-14F8-537B-900E8DC0B479}"/>
              </a:ext>
            </a:extLst>
          </p:cNvPr>
          <p:cNvSpPr txBox="1"/>
          <p:nvPr/>
        </p:nvSpPr>
        <p:spPr>
          <a:xfrm>
            <a:off x="518591" y="315378"/>
            <a:ext cx="1110585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FF0000"/>
                </a:solidFill>
              </a:rPr>
              <a:t>Read-Write Quorum </a:t>
            </a:r>
            <a:r>
              <a:rPr lang="en-US" sz="2000" b="1" dirty="0"/>
              <a:t>(this is not the same as REPLICATION!) =&gt; this is mainly related to </a:t>
            </a:r>
            <a:r>
              <a:rPr lang="en-US" sz="2000" b="1" dirty="0">
                <a:solidFill>
                  <a:schemeClr val="accent6"/>
                </a:solidFill>
              </a:rPr>
              <a:t>DURABILITY</a:t>
            </a:r>
            <a:r>
              <a:rPr lang="en-US" sz="2000" b="1" dirty="0"/>
              <a:t> of DATA</a:t>
            </a:r>
            <a:endParaRPr lang="en-US" sz="20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EBF6BE0-231F-AE95-B233-2BE1F8C159C0}"/>
              </a:ext>
            </a:extLst>
          </p:cNvPr>
          <p:cNvSpPr txBox="1"/>
          <p:nvPr/>
        </p:nvSpPr>
        <p:spPr>
          <a:xfrm>
            <a:off x="1075640" y="1387365"/>
            <a:ext cx="10548801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Suppose you have a replication mechanism with 1 Leader and 2 Followers.</a:t>
            </a:r>
          </a:p>
          <a:p>
            <a:r>
              <a:rPr lang="en-US" dirty="0"/>
              <a:t>According to the read/write quorum, we need to guarantee:</a:t>
            </a:r>
          </a:p>
          <a:p>
            <a:pPr algn="ctr"/>
            <a:r>
              <a:rPr lang="en-US" b="1" dirty="0">
                <a:solidFill>
                  <a:srgbClr val="FF0000"/>
                </a:solidFill>
              </a:rPr>
              <a:t>W + R &gt; N</a:t>
            </a:r>
          </a:p>
          <a:p>
            <a:r>
              <a:rPr lang="en-US" dirty="0"/>
              <a:t>Where: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 = the number of replicas where you write content before declaring a successful write operation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 = the number of replicas from where you read content before declaring a successful read operation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 = the total number of servers (in this case N = 3)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In a </a:t>
            </a:r>
            <a:r>
              <a:rPr lang="en-US" b="1" dirty="0"/>
              <a:t>read heavy system</a:t>
            </a:r>
            <a:r>
              <a:rPr lang="en-US" dirty="0"/>
              <a:t> you could decide that you want to to read from 2 servers only for a successful read and write to at least 2 servers to declare a successful write. Indeed, we would have:</a:t>
            </a:r>
          </a:p>
          <a:p>
            <a:pPr algn="ctr"/>
            <a:r>
              <a:rPr lang="en-US" dirty="0"/>
              <a:t>2 + 2 &gt; 3</a:t>
            </a:r>
            <a:br>
              <a:rPr lang="en-US" dirty="0"/>
            </a:br>
            <a:endParaRPr lang="en-US" dirty="0"/>
          </a:p>
          <a:p>
            <a:r>
              <a:rPr lang="en-US" dirty="0"/>
              <a:t>If you add more nodes and have 1 Leader and 4 Followers (i.e. N=5), In a </a:t>
            </a:r>
            <a:r>
              <a:rPr lang="en-US" b="1" dirty="0"/>
              <a:t>read heavy system</a:t>
            </a:r>
            <a:r>
              <a:rPr lang="en-US" dirty="0"/>
              <a:t> you could decide that you want to to read from 2 servers only for a successful read and write to at least 4 servers to declare a successful write. Indeed, we would have:</a:t>
            </a:r>
          </a:p>
          <a:p>
            <a:pPr algn="ctr"/>
            <a:r>
              <a:rPr lang="en-US" dirty="0"/>
              <a:t>4 + 2 &gt; 5</a:t>
            </a:r>
          </a:p>
        </p:txBody>
      </p:sp>
    </p:spTree>
    <p:extLst>
      <p:ext uri="{BB962C8B-B14F-4D97-AF65-F5344CB8AC3E}">
        <p14:creationId xmlns:p14="http://schemas.microsoft.com/office/powerpoint/2010/main" val="11882106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E23D687-0317-DB6F-C8B2-E3DE6F5A61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4693" y="770100"/>
            <a:ext cx="7642614" cy="570374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905CD13-1988-28A8-4DE4-E7F225CA5421}"/>
              </a:ext>
            </a:extLst>
          </p:cNvPr>
          <p:cNvSpPr txBox="1"/>
          <p:nvPr/>
        </p:nvSpPr>
        <p:spPr>
          <a:xfrm>
            <a:off x="543075" y="199485"/>
            <a:ext cx="111058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2 replication topologies (master-slaves &amp; master-master) + 2 consistency rules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040807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29430A-56CC-11C6-39DA-5A1548FD7F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F241F78-A4F7-E120-6E8D-8C5ADDC8A8EB}"/>
              </a:ext>
            </a:extLst>
          </p:cNvPr>
          <p:cNvSpPr txBox="1"/>
          <p:nvPr/>
        </p:nvSpPr>
        <p:spPr>
          <a:xfrm>
            <a:off x="865434" y="567558"/>
            <a:ext cx="1110585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Read-Write Quorum</a:t>
            </a:r>
          </a:p>
          <a:p>
            <a:endParaRPr lang="en-US" b="1" dirty="0"/>
          </a:p>
          <a:p>
            <a:r>
              <a:rPr lang="en-US" b="1" dirty="0"/>
              <a:t>Who handle it?</a:t>
            </a:r>
          </a:p>
          <a:p>
            <a:r>
              <a:rPr lang="en-US" b="1" dirty="0"/>
              <a:t>Client or DB?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2D7AA81-FF05-0EB7-1854-A28DE504FB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06504" y="0"/>
            <a:ext cx="692249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703822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DFEDC9-09C4-9469-E6ED-C909C22051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8245F07-3A18-7767-1D54-196C2D234E3F}"/>
              </a:ext>
            </a:extLst>
          </p:cNvPr>
          <p:cNvSpPr txBox="1"/>
          <p:nvPr/>
        </p:nvSpPr>
        <p:spPr>
          <a:xfrm>
            <a:off x="381958" y="388882"/>
            <a:ext cx="111058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From Read-Write Quorum =&gt; To Replication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0D9CDAA-55BF-2526-B39D-37F4E35300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958" y="918519"/>
            <a:ext cx="5110205" cy="334682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9A74DB0-1365-71D5-4238-2C70ADC192EF}"/>
              </a:ext>
            </a:extLst>
          </p:cNvPr>
          <p:cNvSpPr txBox="1"/>
          <p:nvPr/>
        </p:nvSpPr>
        <p:spPr>
          <a:xfrm>
            <a:off x="5780689" y="1437769"/>
            <a:ext cx="5255173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dirty="0"/>
              <a:t>Quorum operates </a:t>
            </a:r>
            <a:r>
              <a:rPr lang="en-IE" b="1" dirty="0">
                <a:solidFill>
                  <a:srgbClr val="FF0000"/>
                </a:solidFill>
              </a:rPr>
              <a:t>synchronously</a:t>
            </a:r>
            <a:r>
              <a:rPr lang="en-IE" b="1" dirty="0"/>
              <a:t> at write time</a:t>
            </a:r>
            <a:r>
              <a:rPr lang="en-IE" dirty="0"/>
              <a:t>. </a:t>
            </a:r>
          </a:p>
          <a:p>
            <a:endParaRPr lang="en-IE" dirty="0"/>
          </a:p>
          <a:p>
            <a:r>
              <a:rPr lang="en-IE" dirty="0"/>
              <a:t>Replication is done </a:t>
            </a:r>
            <a:r>
              <a:rPr lang="en-IE" dirty="0">
                <a:solidFill>
                  <a:srgbClr val="FF0000"/>
                </a:solidFill>
              </a:rPr>
              <a:t>after reaching the quorum</a:t>
            </a:r>
            <a:r>
              <a:rPr lang="en-IE" dirty="0"/>
              <a:t> and can be </a:t>
            </a:r>
            <a:r>
              <a:rPr lang="en-IE" b="1" dirty="0"/>
              <a:t>synchronous or</a:t>
            </a:r>
            <a:r>
              <a:rPr lang="en-IE" dirty="0"/>
              <a:t> </a:t>
            </a:r>
            <a:r>
              <a:rPr lang="en-IE" b="1" dirty="0"/>
              <a:t>asynchronous.</a:t>
            </a:r>
          </a:p>
          <a:p>
            <a:br>
              <a:rPr lang="en-IE" b="1" dirty="0"/>
            </a:br>
            <a:r>
              <a:rPr lang="en-IE" u="sng" dirty="0">
                <a:solidFill>
                  <a:srgbClr val="FF0000"/>
                </a:solidFill>
              </a:rPr>
              <a:t>A write can pass the quorum gate </a:t>
            </a:r>
            <a:r>
              <a:rPr lang="en-IE" u="sng" dirty="0"/>
              <a:t>and </a:t>
            </a:r>
            <a:r>
              <a:rPr lang="en-IE" u="sng" dirty="0">
                <a:solidFill>
                  <a:srgbClr val="FF0000"/>
                </a:solidFill>
              </a:rPr>
              <a:t>still produce a conflict later</a:t>
            </a:r>
            <a:r>
              <a:rPr lang="en-IE" u="sng" dirty="0"/>
              <a:t> — these are independent concerns layered on top of each other.</a:t>
            </a:r>
          </a:p>
        </p:txBody>
      </p:sp>
    </p:spTree>
    <p:extLst>
      <p:ext uri="{BB962C8B-B14F-4D97-AF65-F5344CB8AC3E}">
        <p14:creationId xmlns:p14="http://schemas.microsoft.com/office/powerpoint/2010/main" val="351243580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0FF6F3-5F2A-3E2F-1686-DC09A51C80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C96F72E-22A7-A151-4004-198E2C4BD1FC}"/>
              </a:ext>
            </a:extLst>
          </p:cNvPr>
          <p:cNvSpPr txBox="1"/>
          <p:nvPr/>
        </p:nvSpPr>
        <p:spPr>
          <a:xfrm>
            <a:off x="381958" y="388882"/>
            <a:ext cx="111058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From Read-Write Quorum =&gt; To Replication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0C8C6C1-7616-3D04-2D2B-CEA9C0D333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5283" y="1329334"/>
            <a:ext cx="5680717" cy="313288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75D008F-9146-35C1-E494-BDB6853BF6F0}"/>
              </a:ext>
            </a:extLst>
          </p:cNvPr>
          <p:cNvSpPr txBox="1"/>
          <p:nvPr/>
        </p:nvSpPr>
        <p:spPr>
          <a:xfrm>
            <a:off x="381958" y="910619"/>
            <a:ext cx="90659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Example: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2F641F5-926E-A334-487B-31C515E42B89}"/>
              </a:ext>
            </a:extLst>
          </p:cNvPr>
          <p:cNvSpPr txBox="1"/>
          <p:nvPr/>
        </p:nvSpPr>
        <p:spPr>
          <a:xfrm>
            <a:off x="6255450" y="910619"/>
            <a:ext cx="5680717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dirty="0"/>
              <a:t>When Node B "confirms" a write for quorum purposes, it does </a:t>
            </a:r>
            <a:r>
              <a:rPr lang="en-IE" b="1" dirty="0"/>
              <a:t>two things atomically</a:t>
            </a:r>
            <a:r>
              <a:rPr lang="en-IE" dirty="0"/>
              <a:t>:</a:t>
            </a:r>
          </a:p>
          <a:p>
            <a:r>
              <a:rPr lang="en-IE" dirty="0"/>
              <a:t>- Writes the value to its local storage</a:t>
            </a:r>
          </a:p>
          <a:p>
            <a:r>
              <a:rPr lang="en-IE" dirty="0"/>
              <a:t>- Sends an acknowledgement back to the coordinator</a:t>
            </a:r>
          </a:p>
          <a:p>
            <a:endParaRPr lang="en-IE" dirty="0"/>
          </a:p>
          <a:p>
            <a:r>
              <a:rPr lang="en-IE" dirty="0">
                <a:solidFill>
                  <a:srgbClr val="FF0000"/>
                </a:solidFill>
              </a:rPr>
              <a:t>There is </a:t>
            </a:r>
            <a:r>
              <a:rPr lang="en-IE" b="1" dirty="0">
                <a:solidFill>
                  <a:srgbClr val="FF0000"/>
                </a:solidFill>
              </a:rPr>
              <a:t>no distributed lock</a:t>
            </a:r>
            <a:r>
              <a:rPr lang="en-IE" dirty="0">
                <a:solidFill>
                  <a:srgbClr val="FF0000"/>
                </a:solidFill>
              </a:rPr>
              <a:t> involved</a:t>
            </a:r>
            <a:r>
              <a:rPr lang="en-IE" dirty="0"/>
              <a:t>. Node B just writes locally and says "done". It has no awareness that another write for the same key might be in flight on Node C at the same moment.</a:t>
            </a:r>
          </a:p>
          <a:p>
            <a:endParaRPr lang="en-US" dirty="0"/>
          </a:p>
          <a:p>
            <a:r>
              <a:rPr lang="en-IE" dirty="0"/>
              <a:t>Node B confirmed both writes </a:t>
            </a:r>
            <a:r>
              <a:rPr lang="en-IE" b="1" dirty="0"/>
              <a:t>independently and without coordination</a:t>
            </a:r>
            <a:r>
              <a:rPr lang="en-IE" dirty="0"/>
              <a:t>. It simply wrote each value as it arrived. No lock, no check against the other in-flight write.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0D78306-C5DD-6A33-A7B6-7A7B20D742DD}"/>
              </a:ext>
            </a:extLst>
          </p:cNvPr>
          <p:cNvSpPr txBox="1"/>
          <p:nvPr/>
        </p:nvSpPr>
        <p:spPr>
          <a:xfrm>
            <a:off x="503754" y="4991875"/>
            <a:ext cx="1091048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It does not matter</a:t>
            </a:r>
            <a:r>
              <a:rPr lang="en-US" b="1" dirty="0"/>
              <a:t> if we use sync or async replication + quorum</a:t>
            </a:r>
            <a:r>
              <a:rPr lang="en-US" dirty="0"/>
              <a:t>. </a:t>
            </a:r>
            <a:r>
              <a:rPr lang="en-US" b="1" dirty="0">
                <a:solidFill>
                  <a:srgbClr val="FF0000"/>
                </a:solidFill>
              </a:rPr>
              <a:t>In both cases there can be conflicts!</a:t>
            </a:r>
          </a:p>
          <a:p>
            <a:r>
              <a:rPr lang="en-US" dirty="0"/>
              <a:t>If you apply quorum and sync =&gt; the data are immediately written in the Disk of the “W” nodes.</a:t>
            </a:r>
          </a:p>
          <a:p>
            <a:r>
              <a:rPr lang="en-US" dirty="0"/>
              <a:t>if you apply quorum and async =&gt; the data are queued and later stored in the Disk of “W” nodes.</a:t>
            </a:r>
          </a:p>
          <a:p>
            <a:r>
              <a:rPr lang="en-IE" dirty="0"/>
              <a:t>But there is still no global checkpoint that said </a:t>
            </a:r>
            <a:r>
              <a:rPr lang="en-IE" b="1" dirty="0"/>
              <a:t>"is anyone else writing this key right now?"</a:t>
            </a:r>
            <a:r>
              <a:rPr lang="en-US" b="1" dirty="0"/>
              <a:t>  </a:t>
            </a:r>
            <a:r>
              <a:rPr lang="en-US" dirty="0"/>
              <a:t>=&gt; i.e. </a:t>
            </a:r>
            <a:r>
              <a:rPr lang="en-IE" dirty="0"/>
              <a:t>both masters </a:t>
            </a:r>
            <a:r>
              <a:rPr lang="en-IE" b="1" dirty="0"/>
              <a:t>independently decided to accept the write</a:t>
            </a:r>
            <a:r>
              <a:rPr lang="en-IE" dirty="0"/>
              <a:t> before any coordination happened.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532549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51FDCD-DBD8-1F27-4F44-4822FA3D5F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02528E1-BA0C-2548-2886-AB75B9117AFA}"/>
              </a:ext>
            </a:extLst>
          </p:cNvPr>
          <p:cNvSpPr txBox="1"/>
          <p:nvPr/>
        </p:nvSpPr>
        <p:spPr>
          <a:xfrm>
            <a:off x="381958" y="388882"/>
            <a:ext cx="111058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Read-Write Quorum + Replication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447508E-6EED-CB6D-52FD-DAFF6AD1992B}"/>
              </a:ext>
            </a:extLst>
          </p:cNvPr>
          <p:cNvSpPr txBox="1"/>
          <p:nvPr/>
        </p:nvSpPr>
        <p:spPr>
          <a:xfrm>
            <a:off x="5934883" y="1143343"/>
            <a:ext cx="525591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dirty="0">
                <a:solidFill>
                  <a:srgbClr val="FF0000"/>
                </a:solidFill>
              </a:rPr>
              <a:t>Replication + quorum answers Q1 and Q2 very well. But Q3 — the conflict question — requires a completely different mechanism. </a:t>
            </a:r>
            <a:r>
              <a:rPr lang="en-IE" dirty="0"/>
              <a:t>No amount of tuning W and R resolves this, because the race condition happens </a:t>
            </a:r>
            <a:r>
              <a:rPr lang="en-IE" b="1" dirty="0"/>
              <a:t>before</a:t>
            </a:r>
            <a:r>
              <a:rPr lang="en-IE" dirty="0"/>
              <a:t> W and R are even consulted.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2F4AEBF-7F91-66ED-3F0F-A906138309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444" y="1143343"/>
            <a:ext cx="4798026" cy="334833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DC6A369-16DE-3BE9-D310-7B78B0D098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23470" y="3014018"/>
            <a:ext cx="6505359" cy="1892628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3E4FD392-78C9-C443-614E-63362F6B54EB}"/>
              </a:ext>
            </a:extLst>
          </p:cNvPr>
          <p:cNvSpPr txBox="1"/>
          <p:nvPr/>
        </p:nvSpPr>
        <p:spPr>
          <a:xfrm>
            <a:off x="5797005" y="5022995"/>
            <a:ext cx="553167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i="1" dirty="0"/>
              <a:t>Example: -- Cassandra Lightweight </a:t>
            </a:r>
            <a:r>
              <a:rPr lang="en-IE" i="1" dirty="0" err="1"/>
              <a:t>Transactio</a:t>
            </a:r>
            <a:r>
              <a:rPr lang="en-IE" i="1" dirty="0"/>
              <a:t>:</a:t>
            </a:r>
          </a:p>
          <a:p>
            <a:r>
              <a:rPr lang="en-IE" i="1"/>
              <a:t>(</a:t>
            </a:r>
            <a:r>
              <a:rPr lang="en-IE" i="1" dirty="0"/>
              <a:t>Paxos)</a:t>
            </a:r>
            <a:r>
              <a:rPr lang="en-IE" dirty="0"/>
              <a:t> INSERT INTO seats (id, </a:t>
            </a:r>
            <a:r>
              <a:rPr lang="en-IE" dirty="0" err="1"/>
              <a:t>booked_by</a:t>
            </a:r>
            <a:r>
              <a:rPr lang="en-IE" dirty="0"/>
              <a:t>) VALUES (99, 'Alice') </a:t>
            </a:r>
            <a:r>
              <a:rPr lang="en-IE" dirty="0">
                <a:solidFill>
                  <a:srgbClr val="FF0000"/>
                </a:solidFill>
              </a:rPr>
              <a:t>IF NOT EXISTS</a:t>
            </a:r>
            <a:r>
              <a:rPr lang="en-IE" dirty="0"/>
              <a:t>; </a:t>
            </a:r>
          </a:p>
          <a:p>
            <a:r>
              <a:rPr lang="en-IE" i="1" dirty="0"/>
              <a:t>-- Returns: applied=true (Alice wins)</a:t>
            </a:r>
            <a:r>
              <a:rPr lang="en-IE" dirty="0"/>
              <a:t> </a:t>
            </a:r>
            <a:r>
              <a:rPr lang="en-IE" i="1" dirty="0"/>
              <a:t>-- Bob's identical query returns: applied=false</a:t>
            </a:r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96BF271-50DA-4251-2268-DED7FAC5B9E3}"/>
              </a:ext>
            </a:extLst>
          </p:cNvPr>
          <p:cNvSpPr txBox="1"/>
          <p:nvPr/>
        </p:nvSpPr>
        <p:spPr>
          <a:xfrm>
            <a:off x="1072056" y="4718194"/>
            <a:ext cx="358402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Replication + Quorum </a:t>
            </a:r>
            <a:r>
              <a:rPr lang="en-US" b="1" dirty="0">
                <a:solidFill>
                  <a:srgbClr val="FF0000"/>
                </a:solidFill>
              </a:rPr>
              <a:t>avoid DATA LOST </a:t>
            </a:r>
            <a:r>
              <a:rPr lang="en-US" b="1" dirty="0"/>
              <a:t>in case the node performing the write goes down and </a:t>
            </a:r>
            <a:r>
              <a:rPr lang="en-US" b="1" dirty="0">
                <a:solidFill>
                  <a:srgbClr val="FF0000"/>
                </a:solidFill>
              </a:rPr>
              <a:t>prevent STALE READS</a:t>
            </a:r>
            <a:r>
              <a:rPr lang="en-US" b="1" dirty="0"/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13090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446</TotalTime>
  <Words>1357</Words>
  <Application>Microsoft Macintosh PowerPoint</Application>
  <PresentationFormat>Widescreen</PresentationFormat>
  <Paragraphs>92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Aptos</vt:lpstr>
      <vt:lpstr>Aptos Display</vt:lpstr>
      <vt:lpstr>Arial</vt:lpstr>
      <vt:lpstr>Wingdings</vt:lpstr>
      <vt:lpstr>Office Theme</vt:lpstr>
      <vt:lpstr>Database Replication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Daniela Ventura</dc:creator>
  <cp:lastModifiedBy>Daniela Ventura</cp:lastModifiedBy>
  <cp:revision>145</cp:revision>
  <dcterms:created xsi:type="dcterms:W3CDTF">2025-03-24T09:57:39Z</dcterms:created>
  <dcterms:modified xsi:type="dcterms:W3CDTF">2026-09-05T15:57:45Z</dcterms:modified>
</cp:coreProperties>
</file>